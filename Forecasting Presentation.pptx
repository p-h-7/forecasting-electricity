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5829685af_2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95829685af_2_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95829685af_2_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5829685af_2_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" name="Google Shape;64;g395829685af_2_1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g395829685af_2_1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5829685af_2_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g395829685af_2_36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95829685af_2_36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5829685af_2_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g395829685af_2_43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95829685af_2_43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5829685af_2_7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g395829685af_2_75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95829685af_2_75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5829685af_2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95829685af_2_122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5829685af_2_16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g395829685af_2_160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95829685af_2_160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5829685af_2_19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g395829685af_2_198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95829685af_2_198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95829685af_2_2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g395829685af_2_213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95829685af_2_213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95829685af_2_2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8" name="Google Shape;308;g395829685af_2_248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95829685af_2_248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95829685af_2_26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g395829685af_2_265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95829685af_2_265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95829685af_2_30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3" name="Google Shape;363;g395829685af_2_301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95829685af_2_301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95829685af_2_3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2" name="Google Shape;382;g395829685af_2_319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395829685af_2_319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95829685af_2_3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g395829685af_2_343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395829685af_2_343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95829685af_2_4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3" name="Google Shape;483;g395829685af_2_418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g395829685af_2_418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95829685af_2_44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1" name="Google Shape;511;g395829685af_2_445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g395829685af_2_445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95829685af_2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g395829685af_2_461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95829685af_2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g395829685af_2_501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95829685af_2_5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7" name="Google Shape;597;g395829685af_2_528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g395829685af_2_528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95829685af_2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g395829685af_2_573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A6B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7498080" y="-274320"/>
            <a:ext cx="2286000" cy="2286000"/>
          </a:xfrm>
          <a:prstGeom prst="ellipse">
            <a:avLst/>
          </a:prstGeom>
          <a:solidFill>
            <a:srgbClr val="2E5FAC">
              <a:alpha val="30196"/>
            </a:srgbClr>
          </a:solidFill>
          <a:ln cap="flat" cmpd="sng" w="12700">
            <a:solidFill>
              <a:srgbClr val="2E5FA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8046720" y="365760"/>
            <a:ext cx="1371600" cy="1371600"/>
          </a:xfrm>
          <a:prstGeom prst="ellipse">
            <a:avLst/>
          </a:prstGeom>
          <a:solidFill>
            <a:srgbClr val="0D9488">
              <a:alpha val="40000"/>
            </a:srgbClr>
          </a:solidFill>
          <a:ln cap="flat" cmpd="sng" w="12700">
            <a:solidFill>
              <a:srgbClr val="0D94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320040" y="82296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DELIVERABLE 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320040" y="1234440"/>
            <a:ext cx="7772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lang="en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Deep Learning Architectures for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lang="en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Multi-Horizon Electricity Load Forecasting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436626" y="30175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320039" y="937072"/>
            <a:ext cx="5157853" cy="3337560"/>
          </a:xfrm>
          <a:prstGeom prst="rect">
            <a:avLst/>
          </a:prstGeom>
          <a:solidFill>
            <a:srgbClr val="1E2A45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320040" y="943382"/>
            <a:ext cx="50928" cy="333125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370969" y="9420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Why This Matters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443485" y="1364988"/>
            <a:ext cx="4936669" cy="231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lang="en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Electricity grids require real-time balance of supply &amp; demand. Forecast errors cause:</a:t>
            </a: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b="1" lang="en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Expensive reserve capacity commitments</a:t>
            </a:r>
            <a:br>
              <a:rPr lang="en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Grid instability and outage risk</a:t>
            </a:r>
            <a:br>
              <a:rPr lang="en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Excess carbon emissions from peaker plants</a:t>
            </a:r>
            <a:br>
              <a:rPr lang="en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Missed renewable integration opportunities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br>
              <a:rPr lang="en"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050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A 1% accuracy improvement saves €1–5M/year per utility.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1" sz="1050">
              <a:solidFill>
                <a:srgbClr val="14B8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5758452" y="937070"/>
            <a:ext cx="3239631" cy="3350185"/>
          </a:xfrm>
          <a:prstGeom prst="rect">
            <a:avLst/>
          </a:prstGeom>
          <a:solidFill>
            <a:srgbClr val="1E2A45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5749310" y="943382"/>
            <a:ext cx="45719" cy="33375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5764815" y="937069"/>
            <a:ext cx="29579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Project Scope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5923044" y="1520852"/>
            <a:ext cx="633841" cy="2926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5923044" y="1505738"/>
            <a:ext cx="63384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6837444" y="1487450"/>
            <a:ext cx="22536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UCI ElectricityLoadDiagrams 2011–2014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370 Portuguese clients, 15-min resolution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5923043" y="2275421"/>
            <a:ext cx="633841" cy="2926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5923042" y="2283735"/>
            <a:ext cx="63384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6837444" y="2264690"/>
            <a:ext cx="22536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LSTM · TCN · Transformer · PatchTST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deep learning architectures compared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5923044" y="3075332"/>
            <a:ext cx="633841" cy="2926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5923044" y="3060218"/>
            <a:ext cx="63384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Horizons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6837444" y="3041930"/>
            <a:ext cx="22536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 = 1h, 6h, 24h ahead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(short, intra-day, full-day)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5923041" y="3874034"/>
            <a:ext cx="633841" cy="2926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5877324" y="3882348"/>
            <a:ext cx="63384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6837444" y="3819170"/>
            <a:ext cx="22536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Identify best architecture for multi-horizon forecasting &amp; LDT pathway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/>
          <p:nvPr/>
        </p:nvSpPr>
        <p:spPr>
          <a:xfrm>
            <a:off x="436626" y="30175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320039" y="937072"/>
            <a:ext cx="8321040" cy="3817808"/>
          </a:xfrm>
          <a:prstGeom prst="rect">
            <a:avLst/>
          </a:prstGeom>
          <a:solidFill>
            <a:srgbClr val="1E2A45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project addresses multi-horizon electricity load forecasting using deep learning architectures.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Accurate electricity demand forecasting is critical for:-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-"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Grid Stability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-"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Energy Trading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-"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Infrastructure Planning</a:t>
            </a:r>
            <a:endParaRPr/>
          </a:p>
          <a:p>
            <a:pPr indent="-2095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Using the UCI ElectricityLoadDiagrams 2011-2014 benchmark dataset (370 Portuguese clients, 15-min resolution).</a:t>
            </a:r>
            <a:b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compare four state-of-the-art architectures — LSTM, TCN, Transformer and PatchTST — across three prediction horizons: 1 hour, 6 hours, and 24 hours ahead.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Our goal is to identify the best architecture for probabilistic load forecasting and establish a pathway toward the Latent Diffusion Transformer (LDT) from AAAI 2024.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320040" y="1234440"/>
            <a:ext cx="50292" cy="33375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&amp; Business Value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320040" y="1234440"/>
            <a:ext cx="3977640" cy="1920240"/>
          </a:xfrm>
          <a:prstGeom prst="rect">
            <a:avLst/>
          </a:prstGeom>
          <a:solidFill>
            <a:srgbClr val="1E2A45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320040" y="1234440"/>
            <a:ext cx="3977640" cy="347472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320040" y="1234440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 —  Current State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457200" y="1664208"/>
            <a:ext cx="37490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Char char="•"/>
            </a:pPr>
            <a:r>
              <a:rPr lang="en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Per-client ARIMA / exponential smoothing models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Char char="•"/>
            </a:pPr>
            <a:r>
              <a:rPr lang="en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370 separate model training + maintenance pipelines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Char char="•"/>
            </a:pPr>
            <a:r>
              <a:rPr lang="en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No cross-client pattern learning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Char char="•"/>
            </a:pPr>
            <a:r>
              <a:rPr lang="en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Struggles with DST, holidays &amp; demand shifts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Char char="•"/>
            </a:pPr>
            <a:r>
              <a:rPr lang="en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Deterministic point forecasts only — no uncertainty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18"/>
          <p:cNvCxnSpPr/>
          <p:nvPr/>
        </p:nvCxnSpPr>
        <p:spPr>
          <a:xfrm>
            <a:off x="4315968" y="2176272"/>
            <a:ext cx="530352" cy="0"/>
          </a:xfrm>
          <a:prstGeom prst="straightConnector1">
            <a:avLst/>
          </a:prstGeom>
          <a:noFill/>
          <a:ln cap="flat" cmpd="sng" w="381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18"/>
          <p:cNvSpPr/>
          <p:nvPr/>
        </p:nvSpPr>
        <p:spPr>
          <a:xfrm>
            <a:off x="4297680" y="2011680"/>
            <a:ext cx="548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200"/>
              <a:buFont typeface="Calibri"/>
              <a:buNone/>
            </a:pPr>
            <a:r>
              <a:rPr lang="en" sz="22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4846320" y="1234440"/>
            <a:ext cx="3977640" cy="1920240"/>
          </a:xfrm>
          <a:prstGeom prst="rect">
            <a:avLst/>
          </a:prstGeom>
          <a:solidFill>
            <a:srgbClr val="1E2A45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4846320" y="1234440"/>
            <a:ext cx="3977640" cy="3474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4846320" y="1234440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  —  Target State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4983480" y="1664208"/>
            <a:ext cx="37490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Char char="•"/>
            </a:pPr>
            <a:r>
              <a:rPr lang="en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Single deep learning model across all 370 clients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Char char="•"/>
            </a:pPr>
            <a:r>
              <a:rPr lang="en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Shared temporal representations + cross-client patterns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Char char="•"/>
            </a:pPr>
            <a:r>
              <a:rPr lang="en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3 forecast horizons: 1h, 6h, 24h simultaneously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Char char="•"/>
            </a:pPr>
            <a:r>
              <a:rPr lang="en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Robust preprocessing: DST-aware, Z-score normalized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Char char="•"/>
            </a:pPr>
            <a:r>
              <a:rPr lang="en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Probabilistic forecasting path via LDT (D3)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320040" y="3273552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VALUE CREATION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320040" y="3593592"/>
            <a:ext cx="2011680" cy="1005840"/>
          </a:xfrm>
          <a:prstGeom prst="rect">
            <a:avLst/>
          </a:prstGeom>
          <a:solidFill>
            <a:srgbClr val="1E2A45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393192" y="362102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822960" y="3630168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Cost Savings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822960" y="3913632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1% accuracy gain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= €1–5M/yr saved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2468880" y="3593592"/>
            <a:ext cx="2011680" cy="1005840"/>
          </a:xfrm>
          <a:prstGeom prst="rect">
            <a:avLst/>
          </a:prstGeom>
          <a:solidFill>
            <a:srgbClr val="1E2A45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2542032" y="362102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2971800" y="3630168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Grid Stability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2971800" y="3913632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Fewer last-minute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reserve dispatches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4617720" y="3593592"/>
            <a:ext cx="2011680" cy="1005840"/>
          </a:xfrm>
          <a:prstGeom prst="rect">
            <a:avLst/>
          </a:prstGeom>
          <a:solidFill>
            <a:srgbClr val="1E2A45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4690872" y="362102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🌱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5120640" y="3630168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Sustainability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5120640" y="3913632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Lower carbon from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reduced peaker use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6766560" y="3593592"/>
            <a:ext cx="2011680" cy="1005840"/>
          </a:xfrm>
          <a:prstGeom prst="rect">
            <a:avLst/>
          </a:prstGeom>
          <a:solidFill>
            <a:srgbClr val="1E2A45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6839712" y="362102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7269480" y="3630168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Scalability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7269480" y="3913632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One model for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370+ clients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/>
          <p:nvPr/>
        </p:nvSpPr>
        <p:spPr>
          <a:xfrm>
            <a:off x="320040" y="201168"/>
            <a:ext cx="1645920" cy="2560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320040" y="20116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CHANGE MANAGEMENT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320040" y="1170432"/>
            <a:ext cx="1325880" cy="310896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320040" y="1170432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Area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1664208" y="1170432"/>
            <a:ext cx="2331720" cy="310896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1664208" y="1170432"/>
            <a:ext cx="2331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(Previous)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4014216" y="1170432"/>
            <a:ext cx="2377440" cy="31089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014216" y="1170432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 (Next)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6391656" y="1170432"/>
            <a:ext cx="1737360" cy="310896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6391656" y="1170432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320040" y="1508760"/>
            <a:ext cx="1325880" cy="749808"/>
          </a:xfrm>
          <a:prstGeom prst="rect">
            <a:avLst/>
          </a:prstGeom>
          <a:solidFill>
            <a:srgbClr val="1E2A4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1664208" y="1508760"/>
            <a:ext cx="2331720" cy="749808"/>
          </a:xfrm>
          <a:prstGeom prst="rect">
            <a:avLst/>
          </a:prstGeom>
          <a:solidFill>
            <a:srgbClr val="1E2A4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4014216" y="1508760"/>
            <a:ext cx="2377440" cy="749808"/>
          </a:xfrm>
          <a:prstGeom prst="rect">
            <a:avLst/>
          </a:prstGeom>
          <a:solidFill>
            <a:srgbClr val="1E2A4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6391656" y="1508760"/>
            <a:ext cx="1737360" cy="749808"/>
          </a:xfrm>
          <a:prstGeom prst="rect">
            <a:avLst/>
          </a:prstGeom>
          <a:solidFill>
            <a:srgbClr val="1E2A4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374904" y="1536192"/>
            <a:ext cx="121615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Data Pipeline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1719072" y="1536192"/>
            <a:ext cx="222199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Manual CSV download + per-analyst preprocessing scripts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4069080" y="1536192"/>
            <a:ext cx="226771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ucimlrepo API fetch with DST-aware hourly resampler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6446520" y="1536192"/>
            <a:ext cx="162763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Reproducible, zero-error ingestion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320040" y="2313432"/>
            <a:ext cx="1325880" cy="749808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1664208" y="2313432"/>
            <a:ext cx="2331720" cy="749808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4014216" y="2313432"/>
            <a:ext cx="2377440" cy="749808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6391656" y="2313432"/>
            <a:ext cx="1737360" cy="749808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374904" y="2340864"/>
            <a:ext cx="121615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Modeling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1719072" y="2340864"/>
            <a:ext cx="222199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370 separate per-client ARIMA/ES models — no knowledge sharing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4069080" y="2340864"/>
            <a:ext cx="226771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Single joint deep learning model (LSTM/TCN/Transformer/PatchTST)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6446520" y="2340864"/>
            <a:ext cx="162763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Cross-client generalization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320040" y="3118104"/>
            <a:ext cx="1325880" cy="749808"/>
          </a:xfrm>
          <a:prstGeom prst="rect">
            <a:avLst/>
          </a:prstGeom>
          <a:solidFill>
            <a:srgbClr val="1E2A4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1664208" y="3118104"/>
            <a:ext cx="2331720" cy="749808"/>
          </a:xfrm>
          <a:prstGeom prst="rect">
            <a:avLst/>
          </a:prstGeom>
          <a:solidFill>
            <a:srgbClr val="1E2A4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4014216" y="3118104"/>
            <a:ext cx="2377440" cy="749808"/>
          </a:xfrm>
          <a:prstGeom prst="rect">
            <a:avLst/>
          </a:prstGeom>
          <a:solidFill>
            <a:srgbClr val="1E2A4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6391656" y="3118104"/>
            <a:ext cx="1737360" cy="749808"/>
          </a:xfrm>
          <a:prstGeom prst="rect">
            <a:avLst/>
          </a:prstGeom>
          <a:solidFill>
            <a:srgbClr val="1E2A4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374904" y="3145536"/>
            <a:ext cx="121615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1719072" y="3145536"/>
            <a:ext cx="222199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In-sample accuracy, risk of data leakage, no holdout period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4069080" y="3145536"/>
            <a:ext cx="226771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Strict 70/10/20 chronological split; scaler fitted on train only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6446520" y="3145536"/>
            <a:ext cx="162763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Unbiased, leak-free metrics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320040" y="3922776"/>
            <a:ext cx="1325880" cy="749808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1664208" y="3922776"/>
            <a:ext cx="2331720" cy="749808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4014216" y="3922776"/>
            <a:ext cx="2377440" cy="749808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6391656" y="3922776"/>
            <a:ext cx="1737360" cy="749808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374904" y="3950208"/>
            <a:ext cx="121615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1719072" y="3950208"/>
            <a:ext cx="222199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Deterministic point forecasts; uncertainty unknown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4069080" y="3950208"/>
            <a:ext cx="226771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Pathway to probabilistic LDT forecasts with CRPS/WIS (D3)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6446520" y="3950208"/>
            <a:ext cx="162763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Actionable confidence intervals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 &amp; Change Management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Process, Standardization &amp; Automation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320040" y="1188720"/>
            <a:ext cx="2743200" cy="1664208"/>
          </a:xfrm>
          <a:prstGeom prst="rect">
            <a:avLst/>
          </a:prstGeom>
          <a:solidFill>
            <a:srgbClr val="1E2A45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320040" y="1188720"/>
            <a:ext cx="2743200" cy="38404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374904" y="1188720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Calibri"/>
              <a:buNone/>
            </a:pPr>
            <a:r>
              <a:rPr b="1" lang="en" sz="15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850392" y="1243584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Ingest &amp; Inspect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429768" y="1645920"/>
            <a:ext cx="2514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ucimlrepo API fetch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140K rows × 370 clients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Zero missing values check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DST gap detection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3099816" y="1828800"/>
            <a:ext cx="1280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lang="en" sz="14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3246120" y="1188720"/>
            <a:ext cx="2743200" cy="1664208"/>
          </a:xfrm>
          <a:prstGeom prst="rect">
            <a:avLst/>
          </a:prstGeom>
          <a:solidFill>
            <a:srgbClr val="1E2A45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3246120" y="1188720"/>
            <a:ext cx="2743200" cy="38404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3300984" y="1188720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Calibri"/>
              <a:buNone/>
            </a:pPr>
            <a:r>
              <a:rPr b="1" lang="en" sz="15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3776472" y="1243584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DST Handling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3355848" y="1645920"/>
            <a:ext cx="2514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Detect spring/fall transitions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Spring: zero-fill 01:00–02:00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Fall: accept 2× spike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Dates: last Sunday Mar &amp; Oct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6025896" y="1828800"/>
            <a:ext cx="1280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lang="en" sz="14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6172200" y="1188720"/>
            <a:ext cx="2743200" cy="1664208"/>
          </a:xfrm>
          <a:prstGeom prst="rect">
            <a:avLst/>
          </a:prstGeom>
          <a:solidFill>
            <a:srgbClr val="1E2A45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6172200" y="1188720"/>
            <a:ext cx="2743200" cy="38404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6227064" y="1188720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Calibri"/>
              <a:buNone/>
            </a:pPr>
            <a:r>
              <a:rPr b="1" lang="en" sz="15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6702552" y="1243584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Hourly Resample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6281928" y="1645920"/>
            <a:ext cx="2514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Sum 4 × 15-min = kWh/hr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df.resample('1h').sum()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140,256 → 35,064 rows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Leap year aware (8,784/yr)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320040" y="2999232"/>
            <a:ext cx="2743200" cy="1664208"/>
          </a:xfrm>
          <a:prstGeom prst="rect">
            <a:avLst/>
          </a:prstGeom>
          <a:solidFill>
            <a:srgbClr val="1E2A45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320040" y="2999232"/>
            <a:ext cx="2743200" cy="38404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374904" y="2999232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Calibri"/>
              <a:buNone/>
            </a:pPr>
            <a:r>
              <a:rPr b="1" lang="en" sz="15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850392" y="3054096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 Filter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429768" y="3456432"/>
            <a:ext cx="2514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Filter to 2012+ data only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Drop clients with &gt;5% zeros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370 → ~320 active clients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26,280 hourly records kept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3099816" y="3639312"/>
            <a:ext cx="1280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lang="en" sz="14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3246120" y="2999232"/>
            <a:ext cx="2743200" cy="1664208"/>
          </a:xfrm>
          <a:prstGeom prst="rect">
            <a:avLst/>
          </a:prstGeom>
          <a:solidFill>
            <a:srgbClr val="1E2A45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3246120" y="2999232"/>
            <a:ext cx="2743200" cy="38404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3300984" y="2999232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Calibri"/>
              <a:buNone/>
            </a:pPr>
            <a:r>
              <a:rPr b="1" lang="en" sz="15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3776472" y="3054096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Normalize &amp; Split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3355848" y="3456432"/>
            <a:ext cx="2514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Z-score per client (train only)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Train 70% / Val 10% / Test 20%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Chronological — no leakage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Scaler fit on train set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6025896" y="3639312"/>
            <a:ext cx="1280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lang="en" sz="14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6172200" y="2999232"/>
            <a:ext cx="2743200" cy="1664208"/>
          </a:xfrm>
          <a:prstGeom prst="rect">
            <a:avLst/>
          </a:prstGeom>
          <a:solidFill>
            <a:srgbClr val="1E2A45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6172200" y="2999232"/>
            <a:ext cx="2743200" cy="38404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6227064" y="2999232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Calibri"/>
              <a:buNone/>
            </a:pPr>
            <a:r>
              <a:rPr b="1" lang="en" sz="15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6702552" y="3054096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Rolling Windows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6281928" y="3456432"/>
            <a:ext cx="2514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Lookback L = 168h (1 week)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Horizon H ∈ {1, 6, 24}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Input: (B, 168, N)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Output: (B, H, N)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3000"/>
              <a:buFont typeface="Trebuchet MS"/>
              <a:buNone/>
            </a:pPr>
            <a:r>
              <a:rPr b="1" lang="en" sz="3000">
                <a:solidFill>
                  <a:srgbClr val="1A3A6B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Milestones and Timeline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2" name="Google Shape;222;p21"/>
          <p:cNvGrpSpPr/>
          <p:nvPr/>
        </p:nvGrpSpPr>
        <p:grpSpPr>
          <a:xfrm>
            <a:off x="1046813" y="2212932"/>
            <a:ext cx="7050371" cy="1827673"/>
            <a:chOff x="2066" y="0"/>
            <a:chExt cx="7050371" cy="1827673"/>
          </a:xfrm>
        </p:grpSpPr>
        <p:sp>
          <p:nvSpPr>
            <p:cNvPr id="223" name="Google Shape;223;p21"/>
            <p:cNvSpPr/>
            <p:nvPr/>
          </p:nvSpPr>
          <p:spPr>
            <a:xfrm rot="-5400000">
              <a:off x="947502" y="291745"/>
              <a:ext cx="182767" cy="1244183"/>
            </a:xfrm>
            <a:prstGeom prst="round2SameRect">
              <a:avLst>
                <a:gd fmla="val 16667" name="adj1"/>
                <a:gd fmla="val 0" name="adj2"/>
              </a:avLst>
            </a:prstGeom>
            <a:gradFill>
              <a:gsLst>
                <a:gs pos="0">
                  <a:srgbClr val="AFCAE9"/>
                </a:gs>
                <a:gs pos="50000">
                  <a:srgbClr val="A0C1E4"/>
                </a:gs>
                <a:gs pos="100000">
                  <a:srgbClr val="8FB8E4"/>
                </a:gs>
              </a:gsLst>
              <a:lin ang="5400000" scaled="0"/>
            </a:gradFill>
            <a:ln cap="flat" cmpd="sng" w="9525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1"/>
            <p:cNvSpPr txBox="1"/>
            <p:nvPr/>
          </p:nvSpPr>
          <p:spPr>
            <a:xfrm>
              <a:off x="425716" y="831375"/>
              <a:ext cx="1235261" cy="164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137150" lIns="137150" spcFirstLastPara="1" rIns="137150" wrap="square" tIns="13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D1 ✔</a:t>
              </a:r>
              <a:endParaRPr/>
            </a:p>
          </p:txBody>
        </p:sp>
        <p:sp>
          <p:nvSpPr>
            <p:cNvPr id="225" name="Google Shape;225;p21"/>
            <p:cNvSpPr/>
            <p:nvPr/>
          </p:nvSpPr>
          <p:spPr>
            <a:xfrm>
              <a:off x="2066" y="0"/>
              <a:ext cx="2073638" cy="6396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1"/>
            <p:cNvSpPr txBox="1"/>
            <p:nvPr/>
          </p:nvSpPr>
          <p:spPr>
            <a:xfrm>
              <a:off x="2066" y="0"/>
              <a:ext cx="2073638" cy="639685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b" bIns="91425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r>
                <a:rPr lang="en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D1 (Current): Baseline Models. LSTM, TCN, Transformer, PatchTST on UCI dataset. EDA &amp; preprocessing. Metric framework established.</a:t>
              </a:r>
              <a:endParaRPr/>
            </a:p>
          </p:txBody>
        </p:sp>
        <p:cxnSp>
          <p:nvCxnSpPr>
            <p:cNvPr id="227" name="Google Shape;227;p21"/>
            <p:cNvCxnSpPr/>
            <p:nvPr/>
          </p:nvCxnSpPr>
          <p:spPr>
            <a:xfrm>
              <a:off x="1038886" y="676239"/>
              <a:ext cx="0" cy="146213"/>
            </a:xfrm>
            <a:prstGeom prst="straightConnector1">
              <a:avLst/>
            </a:prstGeom>
            <a:noFill/>
            <a:ln cap="flat" cmpd="sng" w="9525">
              <a:solidFill>
                <a:srgbClr val="599BD5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228" name="Google Shape;228;p21"/>
            <p:cNvSpPr/>
            <p:nvPr/>
          </p:nvSpPr>
          <p:spPr>
            <a:xfrm>
              <a:off x="1020609" y="639685"/>
              <a:ext cx="36553" cy="36553"/>
            </a:xfrm>
            <a:prstGeom prst="ellipse">
              <a:avLst/>
            </a:prstGeom>
            <a:gradFill>
              <a:gsLst>
                <a:gs pos="0">
                  <a:srgbClr val="AFCAE9"/>
                </a:gs>
                <a:gs pos="50000">
                  <a:srgbClr val="A0C1E4"/>
                </a:gs>
                <a:gs pos="100000">
                  <a:srgbClr val="8FB8E4"/>
                </a:gs>
              </a:gsLst>
              <a:lin ang="5400000" scaled="0"/>
            </a:gra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1"/>
            <p:cNvSpPr/>
            <p:nvPr/>
          </p:nvSpPr>
          <p:spPr>
            <a:xfrm>
              <a:off x="1660977" y="822453"/>
              <a:ext cx="1244183" cy="182767"/>
            </a:xfrm>
            <a:prstGeom prst="rect">
              <a:avLst/>
            </a:prstGeom>
            <a:gradFill>
              <a:gsLst>
                <a:gs pos="0">
                  <a:srgbClr val="ABE3E3"/>
                </a:gs>
                <a:gs pos="50000">
                  <a:srgbClr val="9DDDDE"/>
                </a:gs>
                <a:gs pos="100000">
                  <a:srgbClr val="8CDCDD"/>
                </a:gs>
              </a:gsLst>
              <a:lin ang="5400000" scaled="0"/>
            </a:gradFill>
            <a:ln cap="flat" cmpd="sng" w="9525">
              <a:solidFill>
                <a:srgbClr val="52CBC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1"/>
            <p:cNvSpPr txBox="1"/>
            <p:nvPr/>
          </p:nvSpPr>
          <p:spPr>
            <a:xfrm>
              <a:off x="1660977" y="822453"/>
              <a:ext cx="1244183" cy="182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137150" lIns="137150" spcFirstLastPara="1" rIns="137150" wrap="square" tIns="13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D2</a:t>
              </a:r>
              <a:endParaRPr/>
            </a:p>
          </p:txBody>
        </p:sp>
        <p:sp>
          <p:nvSpPr>
            <p:cNvPr id="231" name="Google Shape;231;p21"/>
            <p:cNvSpPr/>
            <p:nvPr/>
          </p:nvSpPr>
          <p:spPr>
            <a:xfrm>
              <a:off x="1246249" y="1187988"/>
              <a:ext cx="2073638" cy="6396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1"/>
            <p:cNvSpPr txBox="1"/>
            <p:nvPr/>
          </p:nvSpPr>
          <p:spPr>
            <a:xfrm>
              <a:off x="1246249" y="1187988"/>
              <a:ext cx="2073638" cy="639685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t" bIns="0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r>
                <a:rPr lang="en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D2 (Next): Full-Scale Training. All 320 active clients. Hyperparameter tuning. PatchTST as primary model.</a:t>
              </a:r>
              <a:endParaRPr/>
            </a:p>
          </p:txBody>
        </p:sp>
        <p:cxnSp>
          <p:nvCxnSpPr>
            <p:cNvPr id="233" name="Google Shape;233;p21"/>
            <p:cNvCxnSpPr/>
            <p:nvPr/>
          </p:nvCxnSpPr>
          <p:spPr>
            <a:xfrm>
              <a:off x="2283069" y="1005220"/>
              <a:ext cx="0" cy="146213"/>
            </a:xfrm>
            <a:prstGeom prst="straightConnector1">
              <a:avLst/>
            </a:prstGeom>
            <a:noFill/>
            <a:ln cap="flat" cmpd="sng" w="9525">
              <a:solidFill>
                <a:srgbClr val="52CBCC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234" name="Google Shape;234;p21"/>
            <p:cNvSpPr/>
            <p:nvPr/>
          </p:nvSpPr>
          <p:spPr>
            <a:xfrm>
              <a:off x="2264792" y="1151434"/>
              <a:ext cx="36553" cy="36553"/>
            </a:xfrm>
            <a:prstGeom prst="ellipse">
              <a:avLst/>
            </a:prstGeom>
            <a:gradFill>
              <a:gsLst>
                <a:gs pos="0">
                  <a:srgbClr val="ABE3E3"/>
                </a:gs>
                <a:gs pos="50000">
                  <a:srgbClr val="9DDDDE"/>
                </a:gs>
                <a:gs pos="100000">
                  <a:srgbClr val="8CDCDD"/>
                </a:gs>
              </a:gsLst>
              <a:lin ang="5400000" scaled="0"/>
            </a:gra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1"/>
            <p:cNvSpPr/>
            <p:nvPr/>
          </p:nvSpPr>
          <p:spPr>
            <a:xfrm>
              <a:off x="2905160" y="822453"/>
              <a:ext cx="1244183" cy="182767"/>
            </a:xfrm>
            <a:prstGeom prst="rect">
              <a:avLst/>
            </a:prstGeom>
            <a:gradFill>
              <a:gsLst>
                <a:gs pos="0">
                  <a:srgbClr val="A9DEC2"/>
                </a:gs>
                <a:gs pos="50000">
                  <a:srgbClr val="9BD8B7"/>
                </a:gs>
                <a:gs pos="100000">
                  <a:srgbClr val="89D6AD"/>
                </a:gs>
              </a:gsLst>
              <a:lin ang="5400000" scaled="0"/>
            </a:gradFill>
            <a:ln cap="flat" cmpd="sng" w="9525">
              <a:solidFill>
                <a:srgbClr val="4CC38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1"/>
            <p:cNvSpPr txBox="1"/>
            <p:nvPr/>
          </p:nvSpPr>
          <p:spPr>
            <a:xfrm>
              <a:off x="2905160" y="822453"/>
              <a:ext cx="1244183" cy="182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137150" lIns="137150" spcFirstLastPara="1" rIns="137150" wrap="square" tIns="13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D3</a:t>
              </a:r>
              <a:endParaRPr/>
            </a:p>
          </p:txBody>
        </p:sp>
        <p:sp>
          <p:nvSpPr>
            <p:cNvPr id="237" name="Google Shape;237;p21"/>
            <p:cNvSpPr/>
            <p:nvPr/>
          </p:nvSpPr>
          <p:spPr>
            <a:xfrm>
              <a:off x="2490433" y="0"/>
              <a:ext cx="2073638" cy="6396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1"/>
            <p:cNvSpPr txBox="1"/>
            <p:nvPr/>
          </p:nvSpPr>
          <p:spPr>
            <a:xfrm>
              <a:off x="2490433" y="0"/>
              <a:ext cx="2073638" cy="639685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b" bIns="91425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r>
                <a:rPr lang="en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D3 (Final): LDT Implementation. Statistics-aware autoencoder. Diffusion-based generator. Probabilistic intervals (CRPS/WIS).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9" name="Google Shape;239;p21"/>
            <p:cNvCxnSpPr/>
            <p:nvPr/>
          </p:nvCxnSpPr>
          <p:spPr>
            <a:xfrm>
              <a:off x="3527252" y="676239"/>
              <a:ext cx="0" cy="146213"/>
            </a:xfrm>
            <a:prstGeom prst="straightConnector1">
              <a:avLst/>
            </a:prstGeom>
            <a:noFill/>
            <a:ln cap="flat" cmpd="sng" w="9525">
              <a:solidFill>
                <a:srgbClr val="4CC38C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240" name="Google Shape;240;p21"/>
            <p:cNvSpPr/>
            <p:nvPr/>
          </p:nvSpPr>
          <p:spPr>
            <a:xfrm>
              <a:off x="3508975" y="639685"/>
              <a:ext cx="36553" cy="36553"/>
            </a:xfrm>
            <a:prstGeom prst="ellipse">
              <a:avLst/>
            </a:prstGeom>
            <a:gradFill>
              <a:gsLst>
                <a:gs pos="0">
                  <a:srgbClr val="A9DEC2"/>
                </a:gs>
                <a:gs pos="50000">
                  <a:srgbClr val="9BD8B7"/>
                </a:gs>
                <a:gs pos="100000">
                  <a:srgbClr val="89D6AD"/>
                </a:gs>
              </a:gsLst>
              <a:lin ang="5400000" scaled="0"/>
            </a:gra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1"/>
            <p:cNvSpPr/>
            <p:nvPr/>
          </p:nvSpPr>
          <p:spPr>
            <a:xfrm>
              <a:off x="4149344" y="822453"/>
              <a:ext cx="1244183" cy="182767"/>
            </a:xfrm>
            <a:prstGeom prst="rect">
              <a:avLst/>
            </a:prstGeom>
            <a:gradFill>
              <a:gsLst>
                <a:gs pos="0">
                  <a:srgbClr val="A6D8A8"/>
                </a:gs>
                <a:gs pos="50000">
                  <a:srgbClr val="98D29B"/>
                </a:gs>
                <a:gs pos="100000">
                  <a:srgbClr val="86CF89"/>
                </a:gs>
              </a:gsLst>
              <a:lin ang="5400000" scaled="0"/>
            </a:gradFill>
            <a:ln cap="flat" cmpd="sng" w="9525">
              <a:solidFill>
                <a:srgbClr val="46BA4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1"/>
            <p:cNvSpPr txBox="1"/>
            <p:nvPr/>
          </p:nvSpPr>
          <p:spPr>
            <a:xfrm>
              <a:off x="4149344" y="822453"/>
              <a:ext cx="1244183" cy="182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r>
                <a:rPr lang="en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Benchmark</a:t>
              </a:r>
              <a:endParaRPr/>
            </a:p>
          </p:txBody>
        </p:sp>
        <p:sp>
          <p:nvSpPr>
            <p:cNvPr id="243" name="Google Shape;243;p21"/>
            <p:cNvSpPr/>
            <p:nvPr/>
          </p:nvSpPr>
          <p:spPr>
            <a:xfrm>
              <a:off x="3734616" y="1187988"/>
              <a:ext cx="2073638" cy="6396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1"/>
            <p:cNvSpPr txBox="1"/>
            <p:nvPr/>
          </p:nvSpPr>
          <p:spPr>
            <a:xfrm>
              <a:off x="3734616" y="1187988"/>
              <a:ext cx="2073638" cy="639685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t" bIns="0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r>
                <a:rPr lang="en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Submission: Final report with conclusions and reproducible code.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5" name="Google Shape;245;p21"/>
            <p:cNvCxnSpPr/>
            <p:nvPr/>
          </p:nvCxnSpPr>
          <p:spPr>
            <a:xfrm>
              <a:off x="4771435" y="1005220"/>
              <a:ext cx="0" cy="146213"/>
            </a:xfrm>
            <a:prstGeom prst="straightConnector1">
              <a:avLst/>
            </a:prstGeom>
            <a:noFill/>
            <a:ln cap="flat" cmpd="sng" w="9525">
              <a:solidFill>
                <a:srgbClr val="46BA4E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246" name="Google Shape;246;p21"/>
            <p:cNvSpPr/>
            <p:nvPr/>
          </p:nvSpPr>
          <p:spPr>
            <a:xfrm>
              <a:off x="4753158" y="1151434"/>
              <a:ext cx="36553" cy="36553"/>
            </a:xfrm>
            <a:prstGeom prst="ellipse">
              <a:avLst/>
            </a:prstGeom>
            <a:gradFill>
              <a:gsLst>
                <a:gs pos="0">
                  <a:srgbClr val="A6D8A8"/>
                </a:gs>
                <a:gs pos="50000">
                  <a:srgbClr val="98D29B"/>
                </a:gs>
                <a:gs pos="100000">
                  <a:srgbClr val="86CF89"/>
                </a:gs>
              </a:gsLst>
              <a:lin ang="5400000" scaled="0"/>
            </a:gra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1"/>
            <p:cNvSpPr/>
            <p:nvPr/>
          </p:nvSpPr>
          <p:spPr>
            <a:xfrm rot="5400000">
              <a:off x="5924235" y="291745"/>
              <a:ext cx="182767" cy="1244183"/>
            </a:xfrm>
            <a:prstGeom prst="round2SameRect">
              <a:avLst>
                <a:gd fmla="val 16667" name="adj1"/>
                <a:gd fmla="val 0" name="adj2"/>
              </a:avLst>
            </a:prstGeom>
            <a:gradFill>
              <a:gsLst>
                <a:gs pos="0">
                  <a:srgbClr val="B3D3A4"/>
                </a:gs>
                <a:gs pos="50000">
                  <a:srgbClr val="A7CC97"/>
                </a:gs>
                <a:gs pos="100000">
                  <a:srgbClr val="9AC784"/>
                </a:gs>
              </a:gsLst>
              <a:lin ang="5400000" scaled="0"/>
            </a:gradFill>
            <a:ln cap="flat" cmpd="sng" w="9525">
              <a:solidFill>
                <a:srgbClr val="6FAB4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1"/>
            <p:cNvSpPr txBox="1"/>
            <p:nvPr/>
          </p:nvSpPr>
          <p:spPr>
            <a:xfrm>
              <a:off x="5393527" y="831375"/>
              <a:ext cx="1235261" cy="164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r>
                <a:rPr lang="en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Final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21"/>
            <p:cNvSpPr/>
            <p:nvPr/>
          </p:nvSpPr>
          <p:spPr>
            <a:xfrm>
              <a:off x="4978799" y="0"/>
              <a:ext cx="2073638" cy="6396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1"/>
            <p:cNvSpPr txBox="1"/>
            <p:nvPr/>
          </p:nvSpPr>
          <p:spPr>
            <a:xfrm>
              <a:off x="4978799" y="0"/>
              <a:ext cx="2073638" cy="639685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b" bIns="91425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r>
                <a:rPr lang="en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Final Benchmark: Complete comparison of all architectures with full probabilistic evaluation.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51" name="Google Shape;251;p21"/>
            <p:cNvCxnSpPr/>
            <p:nvPr/>
          </p:nvCxnSpPr>
          <p:spPr>
            <a:xfrm>
              <a:off x="6015618" y="676239"/>
              <a:ext cx="0" cy="146213"/>
            </a:xfrm>
            <a:prstGeom prst="straightConnector1">
              <a:avLst/>
            </a:prstGeom>
            <a:noFill/>
            <a:ln cap="flat" cmpd="sng" w="9525">
              <a:solidFill>
                <a:srgbClr val="6FAB46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252" name="Google Shape;252;p21"/>
            <p:cNvSpPr/>
            <p:nvPr/>
          </p:nvSpPr>
          <p:spPr>
            <a:xfrm>
              <a:off x="5997342" y="639685"/>
              <a:ext cx="36553" cy="36553"/>
            </a:xfrm>
            <a:prstGeom prst="ellipse">
              <a:avLst/>
            </a:prstGeom>
            <a:gradFill>
              <a:gsLst>
                <a:gs pos="0">
                  <a:srgbClr val="B3D3A4"/>
                </a:gs>
                <a:gs pos="50000">
                  <a:srgbClr val="A7CC97"/>
                </a:gs>
                <a:gs pos="100000">
                  <a:srgbClr val="9AC784"/>
                </a:gs>
              </a:gsLst>
              <a:lin ang="5400000" scaled="0"/>
            </a:gra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" name="Google Shape;253;p21"/>
          <p:cNvSpPr txBox="1"/>
          <p:nvPr/>
        </p:nvSpPr>
        <p:spPr>
          <a:xfrm>
            <a:off x="-1314380" y="5595171"/>
            <a:ext cx="1672239" cy="70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Deliverable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Data Description: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 / 18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274320" y="1417320"/>
            <a:ext cx="7970394" cy="3474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UCI Machine Learning Repository – </a:t>
            </a:r>
            <a:r>
              <a:rPr i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ElectricityLoadDiagrams 2011–2014 (ID: 321)</a:t>
            </a:r>
            <a:b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Type: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Multi-client electricity consumption time series</a:t>
            </a:r>
            <a:b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Resolution: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15-minute readings (resampled to hourly)</a:t>
            </a:r>
            <a:b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Clients: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370 total; 320 active clients retained (2012–2014)</a:t>
            </a:r>
            <a:endParaRPr/>
          </a:p>
        </p:txBody>
      </p:sp>
      <p:sp>
        <p:nvSpPr>
          <p:cNvPr id="263" name="Google Shape;263;p22"/>
          <p:cNvSpPr/>
          <p:nvPr/>
        </p:nvSpPr>
        <p:spPr>
          <a:xfrm>
            <a:off x="411857" y="3004144"/>
            <a:ext cx="3671959" cy="18098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594738" y="3095584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Features :</a:t>
            </a:r>
            <a:endParaRPr/>
          </a:p>
        </p:txBody>
      </p:sp>
      <p:sp>
        <p:nvSpPr>
          <p:cNvPr id="265" name="Google Shape;265;p22"/>
          <p:cNvSpPr/>
          <p:nvPr/>
        </p:nvSpPr>
        <p:spPr>
          <a:xfrm>
            <a:off x="183257" y="3461344"/>
            <a:ext cx="3717679" cy="1322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1" marL="685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Features: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Hour, Day-of-Week, Month, Year</a:t>
            </a:r>
            <a:endParaRPr/>
          </a:p>
          <a:p>
            <a:pPr indent="-228600" lvl="1" marL="685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Lag Features: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24-hour and 168-hour lags</a:t>
            </a:r>
            <a:endParaRPr/>
          </a:p>
          <a:p>
            <a:pPr indent="-228600" lvl="1" marL="685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Lookback Window: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168 hours (1 week)</a:t>
            </a:r>
            <a:endParaRPr/>
          </a:p>
          <a:p>
            <a:pPr indent="-228600" lvl="1" marL="685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Forecast Horizons: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 ∈ {1, 6, 24} hours ahead</a:t>
            </a:r>
            <a:endParaRPr/>
          </a:p>
          <a:p>
            <a:pPr indent="-228600" lvl="1" marL="685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Normalization: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Z-score (per client, train-only</a:t>
            </a:r>
            <a:endParaRPr/>
          </a:p>
        </p:txBody>
      </p:sp>
      <p:sp>
        <p:nvSpPr>
          <p:cNvPr id="266" name="Google Shape;266;p22"/>
          <p:cNvSpPr/>
          <p:nvPr/>
        </p:nvSpPr>
        <p:spPr>
          <a:xfrm>
            <a:off x="4220976" y="3004144"/>
            <a:ext cx="3783047" cy="18098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4403857" y="3095584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Scope &amp; Structure :</a:t>
            </a:r>
            <a:endParaRPr/>
          </a:p>
        </p:txBody>
      </p:sp>
      <p:sp>
        <p:nvSpPr>
          <p:cNvPr id="268" name="Google Shape;268;p22"/>
          <p:cNvSpPr/>
          <p:nvPr/>
        </p:nvSpPr>
        <p:spPr>
          <a:xfrm>
            <a:off x="3889224" y="3616792"/>
            <a:ext cx="4287477" cy="11673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1" marL="685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Period Used: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January 2012 – December 2014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(36 months)</a:t>
            </a:r>
            <a:endParaRPr/>
          </a:p>
          <a:p>
            <a:pPr indent="-228600" lvl="1" marL="685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Frequency: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Hourly (aggregated from 15-min intervals)</a:t>
            </a:r>
            <a:endParaRPr/>
          </a:p>
          <a:p>
            <a:pPr indent="-228600" lvl="1" marL="685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Records: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~35,064 hourly timestamps × 320 clients</a:t>
            </a:r>
            <a:endParaRPr/>
          </a:p>
          <a:p>
            <a:pPr indent="-228600" lvl="1" marL="685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Split Strategy: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Chronological Train / Validation / Test</a:t>
            </a:r>
            <a:endParaRPr/>
          </a:p>
          <a:p>
            <a:pPr indent="-152400" lvl="1" marL="685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274320" y="1503602"/>
            <a:ext cx="3717679" cy="1322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3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</a:pPr>
            <a:r>
              <a:rPr b="1" lang="en" sz="2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Dataset: UCI ElectricityLoadDiagrams 2011–2014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7805009" y="48691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 / 12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274320" y="1417320"/>
            <a:ext cx="1965960" cy="128016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274320" y="146304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370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274320" y="2084832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Clients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(320 active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2012–2014)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2450592" y="1417320"/>
            <a:ext cx="1965960" cy="1280160"/>
          </a:xfrm>
          <a:prstGeom prst="rect">
            <a:avLst/>
          </a:prstGeom>
          <a:solidFill>
            <a:srgbClr val="2E5FAC"/>
          </a:solidFill>
          <a:ln cap="flat" cmpd="sng" w="12700">
            <a:solidFill>
              <a:srgbClr val="2E5FA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2450592" y="146304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140K+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/>
          <p:nvPr/>
        </p:nvSpPr>
        <p:spPr>
          <a:xfrm>
            <a:off x="2450592" y="2084832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Timestamps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(15-min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granularity)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4626864" y="1417320"/>
            <a:ext cx="1965960" cy="12801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4626864" y="146304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 Years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3"/>
          <p:cNvSpPr/>
          <p:nvPr/>
        </p:nvSpPr>
        <p:spPr>
          <a:xfrm>
            <a:off x="4626864" y="2084832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Jan 2011 –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Dec 2014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6803136" y="1424877"/>
            <a:ext cx="1965960" cy="128016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6803136" y="146304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6803136" y="2084832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Missing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274320" y="2852928"/>
            <a:ext cx="8595360" cy="2011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457200" y="294436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300"/>
              <a:buFont typeface="Trebuchet MS"/>
              <a:buNone/>
            </a:pPr>
            <a:r>
              <a:rPr b="1" lang="en" sz="1300">
                <a:solidFill>
                  <a:srgbClr val="1A3A6B"/>
                </a:solidFill>
                <a:latin typeface="Trebuchet MS"/>
                <a:ea typeface="Trebuchet MS"/>
                <a:cs typeface="Trebuchet MS"/>
                <a:sym typeface="Trebuchet MS"/>
              </a:rPr>
              <a:t>Preprocessing Pipeline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3"/>
          <p:cNvSpPr/>
          <p:nvPr/>
        </p:nvSpPr>
        <p:spPr>
          <a:xfrm>
            <a:off x="365760" y="3337560"/>
            <a:ext cx="1508760" cy="132588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2E5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3"/>
          <p:cNvSpPr/>
          <p:nvPr/>
        </p:nvSpPr>
        <p:spPr>
          <a:xfrm>
            <a:off x="365760" y="3383280"/>
            <a:ext cx="1508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15-min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→ Hourly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1719072" y="374904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600"/>
              <a:buFont typeface="Calibri"/>
              <a:buNone/>
            </a:pPr>
            <a:r>
              <a:rPr lang="en" sz="16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2057400" y="3337560"/>
            <a:ext cx="1508760" cy="1325880"/>
          </a:xfrm>
          <a:prstGeom prst="rect">
            <a:avLst/>
          </a:prstGeom>
          <a:solidFill>
            <a:srgbClr val="E0EDFF"/>
          </a:solidFill>
          <a:ln cap="flat" cmpd="sng" w="9525">
            <a:solidFill>
              <a:srgbClr val="2E5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2057400" y="3383280"/>
            <a:ext cx="1508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Remove 2011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(sparse start)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3"/>
          <p:cNvSpPr/>
          <p:nvPr/>
        </p:nvSpPr>
        <p:spPr>
          <a:xfrm>
            <a:off x="3410712" y="374904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600"/>
              <a:buFont typeface="Calibri"/>
              <a:buNone/>
            </a:pPr>
            <a:r>
              <a:rPr lang="en" sz="16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3749040" y="3337560"/>
            <a:ext cx="1508760" cy="132588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2E5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3"/>
          <p:cNvSpPr/>
          <p:nvPr/>
        </p:nvSpPr>
        <p:spPr>
          <a:xfrm>
            <a:off x="3749040" y="3383280"/>
            <a:ext cx="1508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Z-score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Normalization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3"/>
          <p:cNvSpPr/>
          <p:nvPr/>
        </p:nvSpPr>
        <p:spPr>
          <a:xfrm>
            <a:off x="5102352" y="374904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600"/>
              <a:buFont typeface="Calibri"/>
              <a:buNone/>
            </a:pPr>
            <a:r>
              <a:rPr lang="en" sz="16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3"/>
          <p:cNvSpPr/>
          <p:nvPr/>
        </p:nvSpPr>
        <p:spPr>
          <a:xfrm>
            <a:off x="5440680" y="3337560"/>
            <a:ext cx="1508760" cy="1325880"/>
          </a:xfrm>
          <a:prstGeom prst="rect">
            <a:avLst/>
          </a:prstGeom>
          <a:solidFill>
            <a:srgbClr val="E0EDFF"/>
          </a:solidFill>
          <a:ln cap="flat" cmpd="sng" w="9525">
            <a:solidFill>
              <a:srgbClr val="2E5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3"/>
          <p:cNvSpPr/>
          <p:nvPr/>
        </p:nvSpPr>
        <p:spPr>
          <a:xfrm>
            <a:off x="5440680" y="3383280"/>
            <a:ext cx="1508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Train/Val/Test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70/10/20%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3"/>
          <p:cNvSpPr/>
          <p:nvPr/>
        </p:nvSpPr>
        <p:spPr>
          <a:xfrm>
            <a:off x="6793992" y="374904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600"/>
              <a:buFont typeface="Calibri"/>
              <a:buNone/>
            </a:pPr>
            <a:r>
              <a:rPr lang="en" sz="16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3"/>
          <p:cNvSpPr/>
          <p:nvPr/>
        </p:nvSpPr>
        <p:spPr>
          <a:xfrm>
            <a:off x="7132320" y="3337560"/>
            <a:ext cx="1508760" cy="132588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2E5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3"/>
          <p:cNvSpPr/>
          <p:nvPr/>
        </p:nvSpPr>
        <p:spPr>
          <a:xfrm>
            <a:off x="7132320" y="3383280"/>
            <a:ext cx="1508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Lookback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Window = 168h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rebuchet MS"/>
              <a:buNone/>
            </a:pPr>
            <a:r>
              <a:rPr b="1" lang="en" sz="3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Exploratory Data Analysis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4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4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4"/>
          <p:cNvSpPr/>
          <p:nvPr/>
        </p:nvSpPr>
        <p:spPr>
          <a:xfrm>
            <a:off x="7772400" y="484484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 / 18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5" name="Google Shape;31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371600"/>
            <a:ext cx="530352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4"/>
          <p:cNvSpPr/>
          <p:nvPr/>
        </p:nvSpPr>
        <p:spPr>
          <a:xfrm>
            <a:off x="5760720" y="1371600"/>
            <a:ext cx="3108960" cy="3474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4"/>
          <p:cNvSpPr/>
          <p:nvPr/>
        </p:nvSpPr>
        <p:spPr>
          <a:xfrm>
            <a:off x="5943600" y="14630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300"/>
              <a:buFont typeface="Trebuchet MS"/>
              <a:buNone/>
            </a:pPr>
            <a:r>
              <a:rPr b="1" lang="en" sz="1300">
                <a:solidFill>
                  <a:srgbClr val="1A3A6B"/>
                </a:solidFill>
                <a:latin typeface="Trebuchet MS"/>
                <a:ea typeface="Trebuchet MS"/>
                <a:cs typeface="Trebuchet MS"/>
                <a:sym typeface="Trebuchet MS"/>
              </a:rPr>
              <a:t>Key EDA Findings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5897880" y="1920240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Strong daily cycle (lag-24 ACF)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5897880" y="2395728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Weekly seasonality (lag-168 ACF)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5897880" y="2871216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Peak hours: 8–10AM &amp; 6–8PM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5897880" y="3346704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Avg load: ~3.2 kWh/hr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5897880" y="3822192"/>
            <a:ext cx="2971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Non-stationary: instance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normalization required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5897880" y="4297680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missing values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DST handled specially)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5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rebuchet MS"/>
              <a:buNone/>
            </a:pPr>
            <a:r>
              <a:rPr b="1" lang="en" sz="3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Architectures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5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 / 12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5"/>
          <p:cNvSpPr/>
          <p:nvPr/>
        </p:nvSpPr>
        <p:spPr>
          <a:xfrm>
            <a:off x="228600" y="1371600"/>
            <a:ext cx="2011680" cy="3566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5"/>
          <p:cNvSpPr/>
          <p:nvPr/>
        </p:nvSpPr>
        <p:spPr>
          <a:xfrm>
            <a:off x="228600" y="1371600"/>
            <a:ext cx="2011680" cy="64008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5"/>
          <p:cNvSpPr/>
          <p:nvPr/>
        </p:nvSpPr>
        <p:spPr>
          <a:xfrm>
            <a:off x="228600" y="1389888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lang="en"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LSTM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5"/>
          <p:cNvSpPr/>
          <p:nvPr/>
        </p:nvSpPr>
        <p:spPr>
          <a:xfrm>
            <a:off x="228600" y="179222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Baseline Recurrent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5"/>
          <p:cNvSpPr/>
          <p:nvPr/>
        </p:nvSpPr>
        <p:spPr>
          <a:xfrm>
            <a:off x="320040" y="2176272"/>
            <a:ext cx="18288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2-layer stacked LSTM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Hidden: 128→64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Direct multi-step output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Dropout 0.2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5"/>
          <p:cNvSpPr/>
          <p:nvPr/>
        </p:nvSpPr>
        <p:spPr>
          <a:xfrm>
            <a:off x="320040" y="4434840"/>
            <a:ext cx="914400" cy="27432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320040" y="44348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5"/>
          <p:cNvSpPr/>
          <p:nvPr/>
        </p:nvSpPr>
        <p:spPr>
          <a:xfrm>
            <a:off x="2423160" y="1371600"/>
            <a:ext cx="2011680" cy="3566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5"/>
          <p:cNvSpPr/>
          <p:nvPr/>
        </p:nvSpPr>
        <p:spPr>
          <a:xfrm>
            <a:off x="2423160" y="1371600"/>
            <a:ext cx="2011680" cy="640080"/>
          </a:xfrm>
          <a:prstGeom prst="rect">
            <a:avLst/>
          </a:prstGeom>
          <a:solidFill>
            <a:srgbClr val="2E5FAC"/>
          </a:solidFill>
          <a:ln cap="flat" cmpd="sng" w="12700">
            <a:solidFill>
              <a:srgbClr val="2E5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5"/>
          <p:cNvSpPr/>
          <p:nvPr/>
        </p:nvSpPr>
        <p:spPr>
          <a:xfrm>
            <a:off x="2423160" y="1389888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lang="en"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TCN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5"/>
          <p:cNvSpPr/>
          <p:nvPr/>
        </p:nvSpPr>
        <p:spPr>
          <a:xfrm>
            <a:off x="2423160" y="179222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Temporal Conv. Net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5"/>
          <p:cNvSpPr/>
          <p:nvPr/>
        </p:nvSpPr>
        <p:spPr>
          <a:xfrm>
            <a:off x="2514600" y="2176272"/>
            <a:ext cx="18288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 TCN blocks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Dilations: 1,2,4,8,16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Kernel size = 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Fastest training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5"/>
          <p:cNvSpPr/>
          <p:nvPr/>
        </p:nvSpPr>
        <p:spPr>
          <a:xfrm>
            <a:off x="2514600" y="4434840"/>
            <a:ext cx="914400" cy="274320"/>
          </a:xfrm>
          <a:prstGeom prst="rect">
            <a:avLst/>
          </a:prstGeom>
          <a:solidFill>
            <a:srgbClr val="2E5FAC"/>
          </a:solidFill>
          <a:ln cap="flat" cmpd="sng" w="12700">
            <a:solidFill>
              <a:srgbClr val="2E5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5"/>
          <p:cNvSpPr/>
          <p:nvPr/>
        </p:nvSpPr>
        <p:spPr>
          <a:xfrm>
            <a:off x="2514600" y="44348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5"/>
          <p:cNvSpPr/>
          <p:nvPr/>
        </p:nvSpPr>
        <p:spPr>
          <a:xfrm>
            <a:off x="4617720" y="1371600"/>
            <a:ext cx="2011680" cy="3566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5"/>
          <p:cNvSpPr/>
          <p:nvPr/>
        </p:nvSpPr>
        <p:spPr>
          <a:xfrm>
            <a:off x="4617720" y="1371600"/>
            <a:ext cx="2011680" cy="6400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5"/>
          <p:cNvSpPr/>
          <p:nvPr/>
        </p:nvSpPr>
        <p:spPr>
          <a:xfrm>
            <a:off x="4617720" y="1389888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lang="en"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Transformer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5"/>
          <p:cNvSpPr/>
          <p:nvPr/>
        </p:nvSpPr>
        <p:spPr>
          <a:xfrm>
            <a:off x="4617720" y="179222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Vanilla Encoder-Decoder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5"/>
          <p:cNvSpPr/>
          <p:nvPr/>
        </p:nvSpPr>
        <p:spPr>
          <a:xfrm>
            <a:off x="4709160" y="2176272"/>
            <a:ext cx="18288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 encoder layers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 attention heads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d_model = 256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Long-range attention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5"/>
          <p:cNvSpPr/>
          <p:nvPr/>
        </p:nvSpPr>
        <p:spPr>
          <a:xfrm>
            <a:off x="4709160" y="4434840"/>
            <a:ext cx="914400" cy="2743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5"/>
          <p:cNvSpPr/>
          <p:nvPr/>
        </p:nvSpPr>
        <p:spPr>
          <a:xfrm>
            <a:off x="4709160" y="44348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Global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5"/>
          <p:cNvSpPr/>
          <p:nvPr/>
        </p:nvSpPr>
        <p:spPr>
          <a:xfrm>
            <a:off x="6812280" y="1371600"/>
            <a:ext cx="2011680" cy="3566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5"/>
          <p:cNvSpPr/>
          <p:nvPr/>
        </p:nvSpPr>
        <p:spPr>
          <a:xfrm>
            <a:off x="6812280" y="1371600"/>
            <a:ext cx="2011680" cy="64008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5"/>
          <p:cNvSpPr/>
          <p:nvPr/>
        </p:nvSpPr>
        <p:spPr>
          <a:xfrm>
            <a:off x="6812280" y="1389888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lang="en"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PatchTST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5"/>
          <p:cNvSpPr/>
          <p:nvPr/>
        </p:nvSpPr>
        <p:spPr>
          <a:xfrm>
            <a:off x="6812280" y="179222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Patch-based Transformer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/>
          <p:nvPr/>
        </p:nvSpPr>
        <p:spPr>
          <a:xfrm>
            <a:off x="6903720" y="2176272"/>
            <a:ext cx="18288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Patch size = 16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 encoder layers · 8 heads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d_model = 128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Best accuracy 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5"/>
          <p:cNvSpPr/>
          <p:nvPr/>
        </p:nvSpPr>
        <p:spPr>
          <a:xfrm>
            <a:off x="6903720" y="4434840"/>
            <a:ext cx="914400" cy="2743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5"/>
          <p:cNvSpPr/>
          <p:nvPr/>
        </p:nvSpPr>
        <p:spPr>
          <a:xfrm>
            <a:off x="6903720" y="44348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5"/>
          <p:cNvSpPr/>
          <p:nvPr/>
        </p:nvSpPr>
        <p:spPr>
          <a:xfrm>
            <a:off x="7772400" y="484484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 / 18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6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rebuchet MS"/>
              <a:buNone/>
            </a:pPr>
            <a:r>
              <a:rPr b="1" lang="en" sz="3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Preliminary Results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6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8" name="Google Shape;36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371600"/>
            <a:ext cx="5486400" cy="352044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6"/>
          <p:cNvSpPr/>
          <p:nvPr/>
        </p:nvSpPr>
        <p:spPr>
          <a:xfrm>
            <a:off x="5897880" y="1371600"/>
            <a:ext cx="3017520" cy="3520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6"/>
          <p:cNvSpPr/>
          <p:nvPr/>
        </p:nvSpPr>
        <p:spPr>
          <a:xfrm>
            <a:off x="6035040" y="14630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400"/>
              <a:buFont typeface="Trebuchet MS"/>
              <a:buNone/>
            </a:pPr>
            <a:r>
              <a:rPr b="1" lang="en" sz="1400">
                <a:solidFill>
                  <a:srgbClr val="1A3A6B"/>
                </a:solidFill>
                <a:latin typeface="Trebuchet MS"/>
                <a:ea typeface="Trebuchet MS"/>
                <a:cs typeface="Trebuchet MS"/>
                <a:sym typeface="Trebuchet MS"/>
              </a:rPr>
              <a:t>Key Takeaways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6"/>
          <p:cNvSpPr/>
          <p:nvPr/>
        </p:nvSpPr>
        <p:spPr>
          <a:xfrm>
            <a:off x="6035040" y="1993392"/>
            <a:ext cx="2651760" cy="59436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6"/>
          <p:cNvSpPr/>
          <p:nvPr/>
        </p:nvSpPr>
        <p:spPr>
          <a:xfrm>
            <a:off x="6126480" y="2011680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🥇  PatchTST leads all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horizons (H1, H6, H24)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6"/>
          <p:cNvSpPr/>
          <p:nvPr/>
        </p:nvSpPr>
        <p:spPr>
          <a:xfrm>
            <a:off x="6035040" y="2706624"/>
            <a:ext cx="2651760" cy="594360"/>
          </a:xfrm>
          <a:prstGeom prst="rect">
            <a:avLst/>
          </a:prstGeom>
          <a:solidFill>
            <a:srgbClr val="E0F4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6"/>
          <p:cNvSpPr/>
          <p:nvPr/>
        </p:nvSpPr>
        <p:spPr>
          <a:xfrm>
            <a:off x="6126480" y="2724912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📉  All models degrade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with longer horizons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6"/>
          <p:cNvSpPr/>
          <p:nvPr/>
        </p:nvSpPr>
        <p:spPr>
          <a:xfrm>
            <a:off x="6035040" y="3419856"/>
            <a:ext cx="2651760" cy="59436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6"/>
          <p:cNvSpPr/>
          <p:nvPr/>
        </p:nvSpPr>
        <p:spPr>
          <a:xfrm>
            <a:off x="6126480" y="3438144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⚡  TCN is 2× faster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than LSTM to train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6"/>
          <p:cNvSpPr/>
          <p:nvPr/>
        </p:nvSpPr>
        <p:spPr>
          <a:xfrm>
            <a:off x="6035040" y="4133088"/>
            <a:ext cx="2651760" cy="594360"/>
          </a:xfrm>
          <a:prstGeom prst="rect">
            <a:avLst/>
          </a:prstGeom>
          <a:solidFill>
            <a:srgbClr val="E0F4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6"/>
          <p:cNvSpPr/>
          <p:nvPr/>
        </p:nvSpPr>
        <p:spPr>
          <a:xfrm>
            <a:off x="6126480" y="4151376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🎯  Transformer models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degrade more slowly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6"/>
          <p:cNvSpPr/>
          <p:nvPr/>
        </p:nvSpPr>
        <p:spPr>
          <a:xfrm>
            <a:off x="7772400" y="484484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11 / 18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7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rebuchet MS"/>
              <a:buNone/>
            </a:pPr>
            <a:r>
              <a:rPr b="1" lang="en" sz="3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Accuracy Degradation by Forecast Horizon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7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7" name="Google Shape;38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371600"/>
            <a:ext cx="5486400" cy="352044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7"/>
          <p:cNvSpPr/>
          <p:nvPr/>
        </p:nvSpPr>
        <p:spPr>
          <a:xfrm>
            <a:off x="5897880" y="1371600"/>
            <a:ext cx="3017520" cy="3520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7"/>
          <p:cNvSpPr/>
          <p:nvPr/>
        </p:nvSpPr>
        <p:spPr>
          <a:xfrm>
            <a:off x="6035040" y="14630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300"/>
              <a:buFont typeface="Trebuchet MS"/>
              <a:buNone/>
            </a:pPr>
            <a:r>
              <a:rPr b="1" lang="en" sz="1300">
                <a:solidFill>
                  <a:srgbClr val="1A3A6B"/>
                </a:solidFill>
                <a:latin typeface="Trebuchet MS"/>
                <a:ea typeface="Trebuchet MS"/>
                <a:cs typeface="Trebuchet MS"/>
                <a:sym typeface="Trebuchet MS"/>
              </a:rPr>
              <a:t>Degradation H1→H24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7"/>
          <p:cNvSpPr/>
          <p:nvPr/>
        </p:nvSpPr>
        <p:spPr>
          <a:xfrm>
            <a:off x="6035040" y="176479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(% MAE increase)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7"/>
          <p:cNvSpPr/>
          <p:nvPr/>
        </p:nvSpPr>
        <p:spPr>
          <a:xfrm>
            <a:off x="6035040" y="2130552"/>
            <a:ext cx="2651760" cy="54864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7"/>
          <p:cNvSpPr/>
          <p:nvPr/>
        </p:nvSpPr>
        <p:spPr>
          <a:xfrm>
            <a:off x="6126480" y="2157984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LSTM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7"/>
          <p:cNvSpPr/>
          <p:nvPr/>
        </p:nvSpPr>
        <p:spPr>
          <a:xfrm>
            <a:off x="7406640" y="2157984"/>
            <a:ext cx="1005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Trebuchet MS"/>
              <a:buNone/>
            </a:pPr>
            <a:r>
              <a:rPr b="1" lang="en" sz="1300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rPr>
              <a:t>+134.3%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7"/>
          <p:cNvSpPr/>
          <p:nvPr/>
        </p:nvSpPr>
        <p:spPr>
          <a:xfrm>
            <a:off x="6035040" y="2788920"/>
            <a:ext cx="2651760" cy="54864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7"/>
          <p:cNvSpPr/>
          <p:nvPr/>
        </p:nvSpPr>
        <p:spPr>
          <a:xfrm>
            <a:off x="6126480" y="2816352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TCN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7"/>
          <p:cNvSpPr/>
          <p:nvPr/>
        </p:nvSpPr>
        <p:spPr>
          <a:xfrm>
            <a:off x="7406640" y="2816352"/>
            <a:ext cx="1005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Trebuchet MS"/>
              <a:buNone/>
            </a:pPr>
            <a:r>
              <a:rPr b="1" lang="en" sz="1300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rPr>
              <a:t>+133.1%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7"/>
          <p:cNvSpPr/>
          <p:nvPr/>
        </p:nvSpPr>
        <p:spPr>
          <a:xfrm>
            <a:off x="6035040" y="3447288"/>
            <a:ext cx="2651760" cy="54864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7"/>
          <p:cNvSpPr/>
          <p:nvPr/>
        </p:nvSpPr>
        <p:spPr>
          <a:xfrm>
            <a:off x="6126480" y="3474720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Transformer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7"/>
          <p:cNvSpPr/>
          <p:nvPr/>
        </p:nvSpPr>
        <p:spPr>
          <a:xfrm>
            <a:off x="7406640" y="3474720"/>
            <a:ext cx="1005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5FAC"/>
              </a:buClr>
              <a:buSzPts val="1300"/>
              <a:buFont typeface="Trebuchet MS"/>
              <a:buNone/>
            </a:pPr>
            <a:r>
              <a:rPr b="1" lang="en" sz="1300">
                <a:solidFill>
                  <a:srgbClr val="2E5FAC"/>
                </a:solidFill>
                <a:latin typeface="Trebuchet MS"/>
                <a:ea typeface="Trebuchet MS"/>
                <a:cs typeface="Trebuchet MS"/>
                <a:sym typeface="Trebuchet MS"/>
              </a:rPr>
              <a:t>+105.4%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7"/>
          <p:cNvSpPr/>
          <p:nvPr/>
        </p:nvSpPr>
        <p:spPr>
          <a:xfrm>
            <a:off x="6035040" y="4105656"/>
            <a:ext cx="2651760" cy="54864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7"/>
          <p:cNvSpPr/>
          <p:nvPr/>
        </p:nvSpPr>
        <p:spPr>
          <a:xfrm>
            <a:off x="6126480" y="4133088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PatchTST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7"/>
          <p:cNvSpPr/>
          <p:nvPr/>
        </p:nvSpPr>
        <p:spPr>
          <a:xfrm>
            <a:off x="7406640" y="4133088"/>
            <a:ext cx="1005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Trebuchet MS"/>
              <a:buNone/>
            </a:pPr>
            <a:r>
              <a:rPr b="1" lang="en" sz="13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+105.2%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7"/>
          <p:cNvSpPr/>
          <p:nvPr/>
        </p:nvSpPr>
        <p:spPr>
          <a:xfrm>
            <a:off x="6035040" y="464515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i="1" lang="en" sz="10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✓ Transformer models degrade 22% less than recurrent models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7"/>
          <p:cNvSpPr/>
          <p:nvPr/>
        </p:nvSpPr>
        <p:spPr>
          <a:xfrm>
            <a:off x="7863840" y="48463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12 / 18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8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rebuchet MS"/>
              <a:buNone/>
            </a:pPr>
            <a:r>
              <a:rPr b="1" lang="en" sz="3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Multi-Criteria Model Comparison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8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8"/>
          <p:cNvSpPr/>
          <p:nvPr/>
        </p:nvSpPr>
        <p:spPr>
          <a:xfrm>
            <a:off x="1554480" y="1371600"/>
            <a:ext cx="1143000" cy="6858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8"/>
          <p:cNvSpPr/>
          <p:nvPr/>
        </p:nvSpPr>
        <p:spPr>
          <a:xfrm>
            <a:off x="1554480" y="1371600"/>
            <a:ext cx="1143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Short-Horizon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8"/>
          <p:cNvSpPr/>
          <p:nvPr/>
        </p:nvSpPr>
        <p:spPr>
          <a:xfrm>
            <a:off x="2788920" y="1371600"/>
            <a:ext cx="1143000" cy="6858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8"/>
          <p:cNvSpPr/>
          <p:nvPr/>
        </p:nvSpPr>
        <p:spPr>
          <a:xfrm>
            <a:off x="2788920" y="1371600"/>
            <a:ext cx="1143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Long-Horizon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8"/>
          <p:cNvSpPr/>
          <p:nvPr/>
        </p:nvSpPr>
        <p:spPr>
          <a:xfrm>
            <a:off x="4023360" y="1371600"/>
            <a:ext cx="1143000" cy="6858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8"/>
          <p:cNvSpPr/>
          <p:nvPr/>
        </p:nvSpPr>
        <p:spPr>
          <a:xfrm>
            <a:off x="4023360" y="1371600"/>
            <a:ext cx="1143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8"/>
          <p:cNvSpPr/>
          <p:nvPr/>
        </p:nvSpPr>
        <p:spPr>
          <a:xfrm>
            <a:off x="5257800" y="1371600"/>
            <a:ext cx="1143000" cy="6858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8"/>
          <p:cNvSpPr/>
          <p:nvPr/>
        </p:nvSpPr>
        <p:spPr>
          <a:xfrm>
            <a:off x="5257800" y="1371600"/>
            <a:ext cx="1143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Scalability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370 clients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8"/>
          <p:cNvSpPr/>
          <p:nvPr/>
        </p:nvSpPr>
        <p:spPr>
          <a:xfrm>
            <a:off x="6492240" y="1371600"/>
            <a:ext cx="1143000" cy="6858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8"/>
          <p:cNvSpPr/>
          <p:nvPr/>
        </p:nvSpPr>
        <p:spPr>
          <a:xfrm>
            <a:off x="6492240" y="1371600"/>
            <a:ext cx="1143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Probabilistic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Extension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8"/>
          <p:cNvSpPr/>
          <p:nvPr/>
        </p:nvSpPr>
        <p:spPr>
          <a:xfrm>
            <a:off x="7726680" y="1371600"/>
            <a:ext cx="1143000" cy="6858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8"/>
          <p:cNvSpPr/>
          <p:nvPr/>
        </p:nvSpPr>
        <p:spPr>
          <a:xfrm>
            <a:off x="7726680" y="1371600"/>
            <a:ext cx="1143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Overall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8"/>
          <p:cNvSpPr/>
          <p:nvPr/>
        </p:nvSpPr>
        <p:spPr>
          <a:xfrm>
            <a:off x="274320" y="2148840"/>
            <a:ext cx="1188720" cy="59436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8"/>
          <p:cNvSpPr/>
          <p:nvPr/>
        </p:nvSpPr>
        <p:spPr>
          <a:xfrm>
            <a:off x="274320" y="2148840"/>
            <a:ext cx="1188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lang="en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LSTM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8"/>
          <p:cNvSpPr/>
          <p:nvPr/>
        </p:nvSpPr>
        <p:spPr>
          <a:xfrm>
            <a:off x="1554480" y="2148840"/>
            <a:ext cx="1143000" cy="59436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8"/>
          <p:cNvSpPr/>
          <p:nvPr/>
        </p:nvSpPr>
        <p:spPr>
          <a:xfrm>
            <a:off x="1554480" y="2148840"/>
            <a:ext cx="11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★★★☆☆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8"/>
          <p:cNvSpPr/>
          <p:nvPr/>
        </p:nvSpPr>
        <p:spPr>
          <a:xfrm>
            <a:off x="2788920" y="2148840"/>
            <a:ext cx="1143000" cy="59436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8"/>
          <p:cNvSpPr/>
          <p:nvPr/>
        </p:nvSpPr>
        <p:spPr>
          <a:xfrm>
            <a:off x="2788920" y="2148840"/>
            <a:ext cx="11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★★☆☆☆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8"/>
          <p:cNvSpPr/>
          <p:nvPr/>
        </p:nvSpPr>
        <p:spPr>
          <a:xfrm>
            <a:off x="4023360" y="2148840"/>
            <a:ext cx="1143000" cy="59436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8"/>
          <p:cNvSpPr/>
          <p:nvPr/>
        </p:nvSpPr>
        <p:spPr>
          <a:xfrm>
            <a:off x="4023360" y="2148840"/>
            <a:ext cx="11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★★☆☆☆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8"/>
          <p:cNvSpPr/>
          <p:nvPr/>
        </p:nvSpPr>
        <p:spPr>
          <a:xfrm>
            <a:off x="5257800" y="2148840"/>
            <a:ext cx="1143000" cy="59436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8"/>
          <p:cNvSpPr/>
          <p:nvPr/>
        </p:nvSpPr>
        <p:spPr>
          <a:xfrm>
            <a:off x="5257800" y="2148840"/>
            <a:ext cx="11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★★★☆☆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8"/>
          <p:cNvSpPr/>
          <p:nvPr/>
        </p:nvSpPr>
        <p:spPr>
          <a:xfrm>
            <a:off x="6492240" y="2148840"/>
            <a:ext cx="1143000" cy="59436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8"/>
          <p:cNvSpPr/>
          <p:nvPr/>
        </p:nvSpPr>
        <p:spPr>
          <a:xfrm>
            <a:off x="6492240" y="2148840"/>
            <a:ext cx="11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★★☆☆☆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8"/>
          <p:cNvSpPr/>
          <p:nvPr/>
        </p:nvSpPr>
        <p:spPr>
          <a:xfrm>
            <a:off x="7726680" y="2148840"/>
            <a:ext cx="1143000" cy="59436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8"/>
          <p:cNvSpPr/>
          <p:nvPr/>
        </p:nvSpPr>
        <p:spPr>
          <a:xfrm>
            <a:off x="7726680" y="2148840"/>
            <a:ext cx="11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★★☆☆☆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8"/>
          <p:cNvSpPr/>
          <p:nvPr/>
        </p:nvSpPr>
        <p:spPr>
          <a:xfrm>
            <a:off x="274320" y="2834640"/>
            <a:ext cx="1188720" cy="594360"/>
          </a:xfrm>
          <a:prstGeom prst="rect">
            <a:avLst/>
          </a:prstGeom>
          <a:solidFill>
            <a:srgbClr val="2E5FAC"/>
          </a:solidFill>
          <a:ln cap="flat" cmpd="sng" w="12700">
            <a:solidFill>
              <a:srgbClr val="2E5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8"/>
          <p:cNvSpPr/>
          <p:nvPr/>
        </p:nvSpPr>
        <p:spPr>
          <a:xfrm>
            <a:off x="274320" y="2834640"/>
            <a:ext cx="1188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lang="en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TCN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8"/>
          <p:cNvSpPr/>
          <p:nvPr/>
        </p:nvSpPr>
        <p:spPr>
          <a:xfrm>
            <a:off x="1554480" y="2834640"/>
            <a:ext cx="11430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8"/>
          <p:cNvSpPr/>
          <p:nvPr/>
        </p:nvSpPr>
        <p:spPr>
          <a:xfrm>
            <a:off x="1554480" y="2834640"/>
            <a:ext cx="11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★★★★☆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8"/>
          <p:cNvSpPr/>
          <p:nvPr/>
        </p:nvSpPr>
        <p:spPr>
          <a:xfrm>
            <a:off x="2788920" y="2834640"/>
            <a:ext cx="11430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8"/>
          <p:cNvSpPr/>
          <p:nvPr/>
        </p:nvSpPr>
        <p:spPr>
          <a:xfrm>
            <a:off x="2788920" y="2834640"/>
            <a:ext cx="11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★★★☆☆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8"/>
          <p:cNvSpPr/>
          <p:nvPr/>
        </p:nvSpPr>
        <p:spPr>
          <a:xfrm>
            <a:off x="4023360" y="2834640"/>
            <a:ext cx="11430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8"/>
          <p:cNvSpPr/>
          <p:nvPr/>
        </p:nvSpPr>
        <p:spPr>
          <a:xfrm>
            <a:off x="4023360" y="2834640"/>
            <a:ext cx="11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★★★★★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8"/>
          <p:cNvSpPr/>
          <p:nvPr/>
        </p:nvSpPr>
        <p:spPr>
          <a:xfrm>
            <a:off x="5257800" y="2834640"/>
            <a:ext cx="11430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8"/>
          <p:cNvSpPr/>
          <p:nvPr/>
        </p:nvSpPr>
        <p:spPr>
          <a:xfrm>
            <a:off x="5257800" y="2834640"/>
            <a:ext cx="11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★★★★☆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8"/>
          <p:cNvSpPr/>
          <p:nvPr/>
        </p:nvSpPr>
        <p:spPr>
          <a:xfrm>
            <a:off x="6492240" y="2834640"/>
            <a:ext cx="11430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8"/>
          <p:cNvSpPr/>
          <p:nvPr/>
        </p:nvSpPr>
        <p:spPr>
          <a:xfrm>
            <a:off x="6492240" y="2834640"/>
            <a:ext cx="11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★★☆☆☆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8"/>
          <p:cNvSpPr/>
          <p:nvPr/>
        </p:nvSpPr>
        <p:spPr>
          <a:xfrm>
            <a:off x="7726680" y="2834640"/>
            <a:ext cx="1143000" cy="59436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8"/>
          <p:cNvSpPr/>
          <p:nvPr/>
        </p:nvSpPr>
        <p:spPr>
          <a:xfrm>
            <a:off x="7726680" y="2834640"/>
            <a:ext cx="11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★★★☆☆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8"/>
          <p:cNvSpPr/>
          <p:nvPr/>
        </p:nvSpPr>
        <p:spPr>
          <a:xfrm>
            <a:off x="274320" y="3520440"/>
            <a:ext cx="1188720" cy="5943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8"/>
          <p:cNvSpPr/>
          <p:nvPr/>
        </p:nvSpPr>
        <p:spPr>
          <a:xfrm>
            <a:off x="274320" y="3520440"/>
            <a:ext cx="1188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lang="en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Transformer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8"/>
          <p:cNvSpPr/>
          <p:nvPr/>
        </p:nvSpPr>
        <p:spPr>
          <a:xfrm>
            <a:off x="1554480" y="3520440"/>
            <a:ext cx="1143000" cy="59436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8"/>
          <p:cNvSpPr/>
          <p:nvPr/>
        </p:nvSpPr>
        <p:spPr>
          <a:xfrm>
            <a:off x="1554480" y="3520440"/>
            <a:ext cx="11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★★★★☆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8"/>
          <p:cNvSpPr/>
          <p:nvPr/>
        </p:nvSpPr>
        <p:spPr>
          <a:xfrm>
            <a:off x="2788920" y="3520440"/>
            <a:ext cx="1143000" cy="59436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8"/>
          <p:cNvSpPr/>
          <p:nvPr/>
        </p:nvSpPr>
        <p:spPr>
          <a:xfrm>
            <a:off x="2788920" y="3520440"/>
            <a:ext cx="11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★★★★☆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8"/>
          <p:cNvSpPr/>
          <p:nvPr/>
        </p:nvSpPr>
        <p:spPr>
          <a:xfrm>
            <a:off x="4023360" y="3520440"/>
            <a:ext cx="1143000" cy="59436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8"/>
          <p:cNvSpPr/>
          <p:nvPr/>
        </p:nvSpPr>
        <p:spPr>
          <a:xfrm>
            <a:off x="4023360" y="3520440"/>
            <a:ext cx="11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★★★★☆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8"/>
          <p:cNvSpPr/>
          <p:nvPr/>
        </p:nvSpPr>
        <p:spPr>
          <a:xfrm>
            <a:off x="5257800" y="3520440"/>
            <a:ext cx="1143000" cy="59436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8"/>
          <p:cNvSpPr/>
          <p:nvPr/>
        </p:nvSpPr>
        <p:spPr>
          <a:xfrm>
            <a:off x="5257800" y="3520440"/>
            <a:ext cx="11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★★★☆☆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8"/>
          <p:cNvSpPr/>
          <p:nvPr/>
        </p:nvSpPr>
        <p:spPr>
          <a:xfrm>
            <a:off x="6492240" y="3520440"/>
            <a:ext cx="1143000" cy="59436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8"/>
          <p:cNvSpPr/>
          <p:nvPr/>
        </p:nvSpPr>
        <p:spPr>
          <a:xfrm>
            <a:off x="6492240" y="3520440"/>
            <a:ext cx="11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★★★★★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8"/>
          <p:cNvSpPr/>
          <p:nvPr/>
        </p:nvSpPr>
        <p:spPr>
          <a:xfrm>
            <a:off x="7726680" y="3520440"/>
            <a:ext cx="1143000" cy="59436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8"/>
          <p:cNvSpPr/>
          <p:nvPr/>
        </p:nvSpPr>
        <p:spPr>
          <a:xfrm>
            <a:off x="7726680" y="3520440"/>
            <a:ext cx="11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★★★★☆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8"/>
          <p:cNvSpPr/>
          <p:nvPr/>
        </p:nvSpPr>
        <p:spPr>
          <a:xfrm>
            <a:off x="274320" y="4206240"/>
            <a:ext cx="1188720" cy="59436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8"/>
          <p:cNvSpPr/>
          <p:nvPr/>
        </p:nvSpPr>
        <p:spPr>
          <a:xfrm>
            <a:off x="274320" y="4206240"/>
            <a:ext cx="1188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lang="en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PatchTST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8"/>
          <p:cNvSpPr/>
          <p:nvPr/>
        </p:nvSpPr>
        <p:spPr>
          <a:xfrm>
            <a:off x="1554480" y="4206240"/>
            <a:ext cx="11430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8"/>
          <p:cNvSpPr/>
          <p:nvPr/>
        </p:nvSpPr>
        <p:spPr>
          <a:xfrm>
            <a:off x="1554480" y="4206240"/>
            <a:ext cx="11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★★★★★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8"/>
          <p:cNvSpPr/>
          <p:nvPr/>
        </p:nvSpPr>
        <p:spPr>
          <a:xfrm>
            <a:off x="2788920" y="4206240"/>
            <a:ext cx="11430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8"/>
          <p:cNvSpPr/>
          <p:nvPr/>
        </p:nvSpPr>
        <p:spPr>
          <a:xfrm>
            <a:off x="2788920" y="4206240"/>
            <a:ext cx="11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★★★★★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8"/>
          <p:cNvSpPr/>
          <p:nvPr/>
        </p:nvSpPr>
        <p:spPr>
          <a:xfrm>
            <a:off x="4023360" y="4206240"/>
            <a:ext cx="11430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8"/>
          <p:cNvSpPr/>
          <p:nvPr/>
        </p:nvSpPr>
        <p:spPr>
          <a:xfrm>
            <a:off x="4023360" y="4206240"/>
            <a:ext cx="11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★★★★☆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8"/>
          <p:cNvSpPr/>
          <p:nvPr/>
        </p:nvSpPr>
        <p:spPr>
          <a:xfrm>
            <a:off x="5257800" y="4206240"/>
            <a:ext cx="11430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8"/>
          <p:cNvSpPr/>
          <p:nvPr/>
        </p:nvSpPr>
        <p:spPr>
          <a:xfrm>
            <a:off x="5257800" y="4206240"/>
            <a:ext cx="11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★★★★☆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8"/>
          <p:cNvSpPr/>
          <p:nvPr/>
        </p:nvSpPr>
        <p:spPr>
          <a:xfrm>
            <a:off x="6492240" y="4206240"/>
            <a:ext cx="11430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8"/>
          <p:cNvSpPr/>
          <p:nvPr/>
        </p:nvSpPr>
        <p:spPr>
          <a:xfrm>
            <a:off x="6492240" y="4206240"/>
            <a:ext cx="11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★★★★★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8"/>
          <p:cNvSpPr/>
          <p:nvPr/>
        </p:nvSpPr>
        <p:spPr>
          <a:xfrm>
            <a:off x="7726680" y="4206240"/>
            <a:ext cx="1143000" cy="594360"/>
          </a:xfrm>
          <a:prstGeom prst="rect">
            <a:avLst/>
          </a:prstGeom>
          <a:solidFill>
            <a:srgbClr val="D1FAE5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8"/>
          <p:cNvSpPr/>
          <p:nvPr/>
        </p:nvSpPr>
        <p:spPr>
          <a:xfrm>
            <a:off x="7726680" y="4206240"/>
            <a:ext cx="11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★★★★★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8"/>
          <p:cNvSpPr/>
          <p:nvPr/>
        </p:nvSpPr>
        <p:spPr>
          <a:xfrm>
            <a:off x="7772400" y="484484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13 / 18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9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rebuchet MS"/>
              <a:buNone/>
            </a:pPr>
            <a:r>
              <a:rPr b="1" lang="en" sz="3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Selected Model: PatchTST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9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FAC"/>
              </a:buClr>
              <a:buSzPts val="1400"/>
              <a:buFont typeface="Calibri"/>
              <a:buNone/>
            </a:pPr>
            <a:r>
              <a:rPr i="1" lang="en" sz="1400">
                <a:solidFill>
                  <a:srgbClr val="2E5FAC"/>
                </a:solidFill>
                <a:latin typeface="Calibri"/>
                <a:ea typeface="Calibri"/>
                <a:cs typeface="Calibri"/>
                <a:sym typeface="Calibri"/>
              </a:rPr>
              <a:t>Best performing architecture — justified selection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9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14 / 18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9"/>
          <p:cNvSpPr/>
          <p:nvPr/>
        </p:nvSpPr>
        <p:spPr>
          <a:xfrm>
            <a:off x="7223760" y="1325880"/>
            <a:ext cx="1645920" cy="164592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9"/>
          <p:cNvSpPr/>
          <p:nvPr/>
        </p:nvSpPr>
        <p:spPr>
          <a:xfrm>
            <a:off x="7223760" y="1389888"/>
            <a:ext cx="16459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lang="en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🥇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lang="en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BEST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9"/>
          <p:cNvSpPr/>
          <p:nvPr/>
        </p:nvSpPr>
        <p:spPr>
          <a:xfrm>
            <a:off x="274320" y="1371600"/>
            <a:ext cx="6766560" cy="3520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9"/>
          <p:cNvSpPr/>
          <p:nvPr/>
        </p:nvSpPr>
        <p:spPr>
          <a:xfrm>
            <a:off x="457200" y="1463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600"/>
              <a:buFont typeface="Trebuchet MS"/>
              <a:buNone/>
            </a:pPr>
            <a:r>
              <a:rPr b="1" lang="en" sz="1600">
                <a:solidFill>
                  <a:srgbClr val="1A3A6B"/>
                </a:solidFill>
                <a:latin typeface="Trebuchet MS"/>
                <a:ea typeface="Trebuchet MS"/>
                <a:cs typeface="Trebuchet MS"/>
                <a:sym typeface="Trebuchet MS"/>
              </a:rPr>
              <a:t>Why PatchTST?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9"/>
          <p:cNvSpPr/>
          <p:nvPr/>
        </p:nvSpPr>
        <p:spPr>
          <a:xfrm>
            <a:off x="365760" y="1947672"/>
            <a:ext cx="411480" cy="41148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9"/>
          <p:cNvSpPr/>
          <p:nvPr/>
        </p:nvSpPr>
        <p:spPr>
          <a:xfrm>
            <a:off x="365760" y="194767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9"/>
          <p:cNvSpPr/>
          <p:nvPr/>
        </p:nvSpPr>
        <p:spPr>
          <a:xfrm>
            <a:off x="886968" y="194767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Best MAE/RMSE on all three forecast horizons (1h, 6h, 24h)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9"/>
          <p:cNvSpPr/>
          <p:nvPr/>
        </p:nvSpPr>
        <p:spPr>
          <a:xfrm>
            <a:off x="365760" y="2514600"/>
            <a:ext cx="411480" cy="411480"/>
          </a:xfrm>
          <a:prstGeom prst="rect">
            <a:avLst/>
          </a:prstGeom>
          <a:solidFill>
            <a:srgbClr val="2E5FAC"/>
          </a:solidFill>
          <a:ln cap="flat" cmpd="sng" w="12700">
            <a:solidFill>
              <a:srgbClr val="2E5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9"/>
          <p:cNvSpPr/>
          <p:nvPr/>
        </p:nvSpPr>
        <p:spPr>
          <a:xfrm>
            <a:off x="365760" y="25146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9"/>
          <p:cNvSpPr/>
          <p:nvPr/>
        </p:nvSpPr>
        <p:spPr>
          <a:xfrm>
            <a:off x="886968" y="2514600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Lowest degradation: +105.2% H1→H24 vs +134.3% for LSTM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9"/>
          <p:cNvSpPr/>
          <p:nvPr/>
        </p:nvSpPr>
        <p:spPr>
          <a:xfrm>
            <a:off x="365760" y="3081528"/>
            <a:ext cx="411480" cy="4114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9"/>
          <p:cNvSpPr/>
          <p:nvPr/>
        </p:nvSpPr>
        <p:spPr>
          <a:xfrm>
            <a:off x="365760" y="308152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9"/>
          <p:cNvSpPr/>
          <p:nvPr/>
        </p:nvSpPr>
        <p:spPr>
          <a:xfrm>
            <a:off x="886968" y="3081528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Patch tokenization reduces attention O(T²) → O(T²/P²) complexity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9"/>
          <p:cNvSpPr/>
          <p:nvPr/>
        </p:nvSpPr>
        <p:spPr>
          <a:xfrm>
            <a:off x="365760" y="3648456"/>
            <a:ext cx="411480" cy="41148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9"/>
          <p:cNvSpPr/>
          <p:nvPr/>
        </p:nvSpPr>
        <p:spPr>
          <a:xfrm>
            <a:off x="365760" y="364845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9"/>
          <p:cNvSpPr/>
          <p:nvPr/>
        </p:nvSpPr>
        <p:spPr>
          <a:xfrm>
            <a:off x="886968" y="3648456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Natural backbone for LDT autoencoder (Feng et al., AAAI 2024)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9"/>
          <p:cNvSpPr/>
          <p:nvPr/>
        </p:nvSpPr>
        <p:spPr>
          <a:xfrm>
            <a:off x="365760" y="4215384"/>
            <a:ext cx="411480" cy="41148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9"/>
          <p:cNvSpPr/>
          <p:nvPr/>
        </p:nvSpPr>
        <p:spPr>
          <a:xfrm>
            <a:off x="365760" y="421538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9"/>
          <p:cNvSpPr/>
          <p:nvPr/>
        </p:nvSpPr>
        <p:spPr>
          <a:xfrm>
            <a:off x="886968" y="4215384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Supports probabilistic extension via diffusion head in D3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15/ 18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Reference: Latent Diffusion Transformer (LDT)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0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i="1" lang="en" sz="14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Feng, Miao, Zhang &amp; Zhao · AAAI 2024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0"/>
          <p:cNvSpPr/>
          <p:nvPr/>
        </p:nvSpPr>
        <p:spPr>
          <a:xfrm>
            <a:off x="365760" y="1078992"/>
            <a:ext cx="8412480" cy="274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0"/>
          <p:cNvSpPr/>
          <p:nvPr/>
        </p:nvSpPr>
        <p:spPr>
          <a:xfrm>
            <a:off x="274320" y="1280160"/>
            <a:ext cx="4160520" cy="3520440"/>
          </a:xfrm>
          <a:prstGeom prst="rect">
            <a:avLst/>
          </a:prstGeom>
          <a:solidFill>
            <a:srgbClr val="2E5FAC">
              <a:alpha val="14901"/>
            </a:srgbClr>
          </a:solidFill>
          <a:ln cap="flat" cmpd="sng" w="19050">
            <a:solidFill>
              <a:srgbClr val="2E5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0"/>
          <p:cNvSpPr/>
          <p:nvPr/>
        </p:nvSpPr>
        <p:spPr>
          <a:xfrm>
            <a:off x="274320" y="1280160"/>
            <a:ext cx="4160520" cy="457200"/>
          </a:xfrm>
          <a:prstGeom prst="rect">
            <a:avLst/>
          </a:prstGeom>
          <a:solidFill>
            <a:srgbClr val="2E5FAC"/>
          </a:solidFill>
          <a:ln cap="flat" cmpd="sng" w="12700">
            <a:solidFill>
              <a:srgbClr val="2E5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0"/>
          <p:cNvSpPr/>
          <p:nvPr/>
        </p:nvSpPr>
        <p:spPr>
          <a:xfrm>
            <a:off x="320040" y="1298448"/>
            <a:ext cx="40690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lang="en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Statistics-Aware Autoencoder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0"/>
          <p:cNvSpPr/>
          <p:nvPr/>
        </p:nvSpPr>
        <p:spPr>
          <a:xfrm>
            <a:off x="365760" y="1828800"/>
            <a:ext cx="397764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76200" lIns="762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Compresses high-dimensional multivariate timestamps into a low-dimensional latent representation.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• Considers dynamic statistics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• Encoder-decoder symmetric architecture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• Enables scalability to 370+ clients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0"/>
          <p:cNvSpPr/>
          <p:nvPr/>
        </p:nvSpPr>
        <p:spPr>
          <a:xfrm>
            <a:off x="4709160" y="1280160"/>
            <a:ext cx="4160520" cy="3520440"/>
          </a:xfrm>
          <a:prstGeom prst="rect">
            <a:avLst/>
          </a:prstGeom>
          <a:solidFill>
            <a:srgbClr val="0D9488">
              <a:alpha val="14901"/>
            </a:srgbClr>
          </a:solidFill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0"/>
          <p:cNvSpPr/>
          <p:nvPr/>
        </p:nvSpPr>
        <p:spPr>
          <a:xfrm>
            <a:off x="4709160" y="1280160"/>
            <a:ext cx="4160520" cy="457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0"/>
          <p:cNvSpPr/>
          <p:nvPr/>
        </p:nvSpPr>
        <p:spPr>
          <a:xfrm>
            <a:off x="4754880" y="1298448"/>
            <a:ext cx="40690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lang="en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Diffusion-Based Conditional Generator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0"/>
          <p:cNvSpPr/>
          <p:nvPr/>
        </p:nvSpPr>
        <p:spPr>
          <a:xfrm>
            <a:off x="4800600" y="1828800"/>
            <a:ext cx="397764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76200" lIns="762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Generates probabilistic forecasts in latent space using a denoising diffusion process.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• Conditioned on historical context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• Produces calibrated forecast distributions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• State-of-the-art CRPS on UCI Electricity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1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Summary - Key Insights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1"/>
          <p:cNvSpPr/>
          <p:nvPr/>
        </p:nvSpPr>
        <p:spPr>
          <a:xfrm>
            <a:off x="320040" y="1188720"/>
            <a:ext cx="4206240" cy="1737360"/>
          </a:xfrm>
          <a:prstGeom prst="rect">
            <a:avLst/>
          </a:prstGeom>
          <a:solidFill>
            <a:srgbClr val="1E2A45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1"/>
          <p:cNvSpPr/>
          <p:nvPr/>
        </p:nvSpPr>
        <p:spPr>
          <a:xfrm>
            <a:off x="320040" y="1188720"/>
            <a:ext cx="4206240" cy="32918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1"/>
          <p:cNvSpPr/>
          <p:nvPr/>
        </p:nvSpPr>
        <p:spPr>
          <a:xfrm>
            <a:off x="320040" y="1188720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1"/>
          <p:cNvSpPr/>
          <p:nvPr/>
        </p:nvSpPr>
        <p:spPr>
          <a:xfrm>
            <a:off x="429768" y="1664208"/>
            <a:ext cx="91440" cy="9144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1"/>
          <p:cNvSpPr/>
          <p:nvPr/>
        </p:nvSpPr>
        <p:spPr>
          <a:xfrm>
            <a:off x="576072" y="1609344"/>
            <a:ext cx="38587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UCI dataset: zero missing values, 320 active clients, strong daily &amp; weekly seasonality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1"/>
          <p:cNvSpPr/>
          <p:nvPr/>
        </p:nvSpPr>
        <p:spPr>
          <a:xfrm>
            <a:off x="429768" y="2075688"/>
            <a:ext cx="91440" cy="9144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1"/>
          <p:cNvSpPr/>
          <p:nvPr/>
        </p:nvSpPr>
        <p:spPr>
          <a:xfrm>
            <a:off x="576072" y="2020824"/>
            <a:ext cx="38587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DST handling critical: spring forward = zero-fill, fall back = 2× aggregated spike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1"/>
          <p:cNvSpPr/>
          <p:nvPr/>
        </p:nvSpPr>
        <p:spPr>
          <a:xfrm>
            <a:off x="429768" y="2487168"/>
            <a:ext cx="91440" cy="9144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31"/>
          <p:cNvSpPr/>
          <p:nvPr/>
        </p:nvSpPr>
        <p:spPr>
          <a:xfrm>
            <a:off x="576072" y="2432304"/>
            <a:ext cx="38587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Lookback window of 168h (1 week) justified by ACF peaks at lag-24 and lag-168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1"/>
          <p:cNvSpPr/>
          <p:nvPr/>
        </p:nvSpPr>
        <p:spPr>
          <a:xfrm>
            <a:off x="4754880" y="1188720"/>
            <a:ext cx="4206240" cy="1737360"/>
          </a:xfrm>
          <a:prstGeom prst="rect">
            <a:avLst/>
          </a:prstGeom>
          <a:solidFill>
            <a:srgbClr val="1E2A45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1"/>
          <p:cNvSpPr/>
          <p:nvPr/>
        </p:nvSpPr>
        <p:spPr>
          <a:xfrm>
            <a:off x="4754880" y="1188720"/>
            <a:ext cx="4206240" cy="32918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1"/>
          <p:cNvSpPr/>
          <p:nvPr/>
        </p:nvSpPr>
        <p:spPr>
          <a:xfrm>
            <a:off x="4754880" y="1188720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1"/>
          <p:cNvSpPr/>
          <p:nvPr/>
        </p:nvSpPr>
        <p:spPr>
          <a:xfrm>
            <a:off x="4864608" y="1664208"/>
            <a:ext cx="91440" cy="9144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1"/>
          <p:cNvSpPr/>
          <p:nvPr/>
        </p:nvSpPr>
        <p:spPr>
          <a:xfrm>
            <a:off x="5010912" y="1609344"/>
            <a:ext cx="38587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All 4 architectures share same dataset, optimizer, and evaluation — fair comparison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1"/>
          <p:cNvSpPr/>
          <p:nvPr/>
        </p:nvSpPr>
        <p:spPr>
          <a:xfrm>
            <a:off x="4864608" y="2075688"/>
            <a:ext cx="91440" cy="9144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1"/>
          <p:cNvSpPr/>
          <p:nvPr/>
        </p:nvSpPr>
        <p:spPr>
          <a:xfrm>
            <a:off x="5010912" y="2020824"/>
            <a:ext cx="38587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PatchTST patch tokenization reduces attention complexity O(L²) → O((L/P)²)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1"/>
          <p:cNvSpPr/>
          <p:nvPr/>
        </p:nvSpPr>
        <p:spPr>
          <a:xfrm>
            <a:off x="4864608" y="2487168"/>
            <a:ext cx="91440" cy="9144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1"/>
          <p:cNvSpPr/>
          <p:nvPr/>
        </p:nvSpPr>
        <p:spPr>
          <a:xfrm>
            <a:off x="5010912" y="2432304"/>
            <a:ext cx="38587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Direct multi-step output avoids autoregressive error accumulation at H=6h, H=24h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1"/>
          <p:cNvSpPr/>
          <p:nvPr/>
        </p:nvSpPr>
        <p:spPr>
          <a:xfrm>
            <a:off x="320040" y="3063240"/>
            <a:ext cx="4206240" cy="1737360"/>
          </a:xfrm>
          <a:prstGeom prst="rect">
            <a:avLst/>
          </a:prstGeom>
          <a:solidFill>
            <a:srgbClr val="1E2A45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1"/>
          <p:cNvSpPr/>
          <p:nvPr/>
        </p:nvSpPr>
        <p:spPr>
          <a:xfrm>
            <a:off x="320040" y="3063240"/>
            <a:ext cx="4206240" cy="32918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1"/>
          <p:cNvSpPr/>
          <p:nvPr/>
        </p:nvSpPr>
        <p:spPr>
          <a:xfrm>
            <a:off x="320040" y="3063240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1"/>
          <p:cNvSpPr/>
          <p:nvPr/>
        </p:nvSpPr>
        <p:spPr>
          <a:xfrm>
            <a:off x="429768" y="353872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1"/>
          <p:cNvSpPr/>
          <p:nvPr/>
        </p:nvSpPr>
        <p:spPr>
          <a:xfrm>
            <a:off x="576072" y="3483864"/>
            <a:ext cx="38587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PatchTST best across all 3 horizons: MAE 0.271 / 0.389 / 0.556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1"/>
          <p:cNvSpPr/>
          <p:nvPr/>
        </p:nvSpPr>
        <p:spPr>
          <a:xfrm>
            <a:off x="429768" y="395020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1"/>
          <p:cNvSpPr/>
          <p:nvPr/>
        </p:nvSpPr>
        <p:spPr>
          <a:xfrm>
            <a:off x="576072" y="3895344"/>
            <a:ext cx="38587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Transformer architectures degrade ~22% less than recurrent models H=1→H=24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1"/>
          <p:cNvSpPr/>
          <p:nvPr/>
        </p:nvSpPr>
        <p:spPr>
          <a:xfrm>
            <a:off x="429768" y="43616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1"/>
          <p:cNvSpPr/>
          <p:nvPr/>
        </p:nvSpPr>
        <p:spPr>
          <a:xfrm>
            <a:off x="576072" y="4306824"/>
            <a:ext cx="38587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TCN is the best accuracy/speed trade-off — 2× faster than LSTM with better metrics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1"/>
          <p:cNvSpPr/>
          <p:nvPr/>
        </p:nvSpPr>
        <p:spPr>
          <a:xfrm>
            <a:off x="4754880" y="3063240"/>
            <a:ext cx="4206240" cy="1737360"/>
          </a:xfrm>
          <a:prstGeom prst="rect">
            <a:avLst/>
          </a:prstGeom>
          <a:solidFill>
            <a:srgbClr val="1E2A45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1"/>
          <p:cNvSpPr/>
          <p:nvPr/>
        </p:nvSpPr>
        <p:spPr>
          <a:xfrm>
            <a:off x="4754880" y="3063240"/>
            <a:ext cx="4206240" cy="32918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1"/>
          <p:cNvSpPr/>
          <p:nvPr/>
        </p:nvSpPr>
        <p:spPr>
          <a:xfrm>
            <a:off x="4754880" y="3063240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1"/>
          <p:cNvSpPr/>
          <p:nvPr/>
        </p:nvSpPr>
        <p:spPr>
          <a:xfrm>
            <a:off x="4864608" y="3538728"/>
            <a:ext cx="91440" cy="91440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1"/>
          <p:cNvSpPr/>
          <p:nvPr/>
        </p:nvSpPr>
        <p:spPr>
          <a:xfrm>
            <a:off x="5010912" y="3483864"/>
            <a:ext cx="38587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D2: Scale to 320 clients, add cyclical time features (hour_sin/cos, dow_sin/cos)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1"/>
          <p:cNvSpPr/>
          <p:nvPr/>
        </p:nvSpPr>
        <p:spPr>
          <a:xfrm>
            <a:off x="4864608" y="3950208"/>
            <a:ext cx="91440" cy="91440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1"/>
          <p:cNvSpPr/>
          <p:nvPr/>
        </p:nvSpPr>
        <p:spPr>
          <a:xfrm>
            <a:off x="5010912" y="3895344"/>
            <a:ext cx="38587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D2: Systematic hyperparameter tuning with Optuna for all 4 architectures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1"/>
          <p:cNvSpPr/>
          <p:nvPr/>
        </p:nvSpPr>
        <p:spPr>
          <a:xfrm>
            <a:off x="4864608" y="4361688"/>
            <a:ext cx="91440" cy="91440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1"/>
          <p:cNvSpPr/>
          <p:nvPr/>
        </p:nvSpPr>
        <p:spPr>
          <a:xfrm>
            <a:off x="5010912" y="4306824"/>
            <a:ext cx="38587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D3: Implement LDT — PatchTST encoder → statistics-aware autoencoder → diffusion head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2"/>
          <p:cNvSpPr/>
          <p:nvPr/>
        </p:nvSpPr>
        <p:spPr>
          <a:xfrm>
            <a:off x="479494" y="951865"/>
            <a:ext cx="2377061" cy="21827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Challenges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Encountered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2"/>
          <p:cNvSpPr/>
          <p:nvPr/>
        </p:nvSpPr>
        <p:spPr>
          <a:xfrm>
            <a:off x="3342850" y="594361"/>
            <a:ext cx="5151246" cy="3954780"/>
          </a:xfrm>
          <a:prstGeom prst="rect">
            <a:avLst/>
          </a:prstGeom>
          <a:solidFill>
            <a:srgbClr val="1E2A45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2"/>
          <p:cNvSpPr/>
          <p:nvPr/>
        </p:nvSpPr>
        <p:spPr>
          <a:xfrm>
            <a:off x="3342850" y="594360"/>
            <a:ext cx="5151246" cy="364323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2"/>
          <p:cNvSpPr/>
          <p:nvPr/>
        </p:nvSpPr>
        <p:spPr>
          <a:xfrm>
            <a:off x="3342850" y="594360"/>
            <a:ext cx="5151246" cy="3643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Challenges Encountered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2"/>
          <p:cNvSpPr/>
          <p:nvPr/>
        </p:nvSpPr>
        <p:spPr>
          <a:xfrm>
            <a:off x="3406857" y="1033273"/>
            <a:ext cx="324123" cy="268448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2"/>
          <p:cNvSpPr/>
          <p:nvPr/>
        </p:nvSpPr>
        <p:spPr>
          <a:xfrm>
            <a:off x="3406857" y="1033273"/>
            <a:ext cx="324123" cy="26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2"/>
          <p:cNvSpPr/>
          <p:nvPr/>
        </p:nvSpPr>
        <p:spPr>
          <a:xfrm>
            <a:off x="3717753" y="1033272"/>
            <a:ext cx="4537727" cy="230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DST Anomalies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2"/>
          <p:cNvSpPr/>
          <p:nvPr/>
        </p:nvSpPr>
        <p:spPr>
          <a:xfrm>
            <a:off x="3717753" y="1252729"/>
            <a:ext cx="4537727" cy="383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Spring forward creates zero-filled 01:00–02:00 windows. Fall back generates 2× aggregated spikes. Both must be handled explicitly — not treated as errors.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2"/>
          <p:cNvSpPr/>
          <p:nvPr/>
        </p:nvSpPr>
        <p:spPr>
          <a:xfrm>
            <a:off x="3406857" y="1673353"/>
            <a:ext cx="324123" cy="268448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2"/>
          <p:cNvSpPr/>
          <p:nvPr/>
        </p:nvSpPr>
        <p:spPr>
          <a:xfrm>
            <a:off x="3406857" y="1673353"/>
            <a:ext cx="324123" cy="26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2"/>
          <p:cNvSpPr/>
          <p:nvPr/>
        </p:nvSpPr>
        <p:spPr>
          <a:xfrm>
            <a:off x="3717753" y="1673352"/>
            <a:ext cx="4537727" cy="230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 Heterogeneity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2"/>
          <p:cNvSpPr/>
          <p:nvPr/>
        </p:nvSpPr>
        <p:spPr>
          <a:xfrm>
            <a:off x="3717753" y="1892809"/>
            <a:ext cx="4537727" cy="383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Residential, commercial, and industrial profiles differ drastically. A single model must generalize across CV range 0.2–0.8+ without per-client fine-tuning.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2"/>
          <p:cNvSpPr/>
          <p:nvPr/>
        </p:nvSpPr>
        <p:spPr>
          <a:xfrm>
            <a:off x="3406857" y="2313433"/>
            <a:ext cx="324123" cy="268448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32"/>
          <p:cNvSpPr/>
          <p:nvPr/>
        </p:nvSpPr>
        <p:spPr>
          <a:xfrm>
            <a:off x="3406857" y="2313433"/>
            <a:ext cx="324123" cy="26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2"/>
          <p:cNvSpPr/>
          <p:nvPr/>
        </p:nvSpPr>
        <p:spPr>
          <a:xfrm>
            <a:off x="3717753" y="2313432"/>
            <a:ext cx="4537727" cy="230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Transformer Complexity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2"/>
          <p:cNvSpPr/>
          <p:nvPr/>
        </p:nvSpPr>
        <p:spPr>
          <a:xfrm>
            <a:off x="3717753" y="2532889"/>
            <a:ext cx="4537727" cy="383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Full O(L²) attention over 168 timesteps is computationally expensive. PatchTST's patch mechanism is the practical solution — reducing to O((L/P)²).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2"/>
          <p:cNvSpPr/>
          <p:nvPr/>
        </p:nvSpPr>
        <p:spPr>
          <a:xfrm>
            <a:off x="3406857" y="2953513"/>
            <a:ext cx="324123" cy="268448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2"/>
          <p:cNvSpPr/>
          <p:nvPr/>
        </p:nvSpPr>
        <p:spPr>
          <a:xfrm>
            <a:off x="3406857" y="2953513"/>
            <a:ext cx="324123" cy="26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2"/>
          <p:cNvSpPr/>
          <p:nvPr/>
        </p:nvSpPr>
        <p:spPr>
          <a:xfrm>
            <a:off x="3717753" y="2953512"/>
            <a:ext cx="4537727" cy="230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Training Scale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2"/>
          <p:cNvSpPr/>
          <p:nvPr/>
        </p:nvSpPr>
        <p:spPr>
          <a:xfrm>
            <a:off x="3717753" y="3172969"/>
            <a:ext cx="4537727" cy="383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Full 320-client training on CPU is prohibitive. GPU acceleration required for D2/D3. Demo uses N=20 clients for speed.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2"/>
          <p:cNvSpPr/>
          <p:nvPr/>
        </p:nvSpPr>
        <p:spPr>
          <a:xfrm>
            <a:off x="3406857" y="3593593"/>
            <a:ext cx="324123" cy="268448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2"/>
          <p:cNvSpPr/>
          <p:nvPr/>
        </p:nvSpPr>
        <p:spPr>
          <a:xfrm>
            <a:off x="3406857" y="3593593"/>
            <a:ext cx="324123" cy="26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2"/>
          <p:cNvSpPr/>
          <p:nvPr/>
        </p:nvSpPr>
        <p:spPr>
          <a:xfrm>
            <a:off x="3717753" y="3593592"/>
            <a:ext cx="4537727" cy="230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Non-stationarity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2"/>
          <p:cNvSpPr/>
          <p:nvPr/>
        </p:nvSpPr>
        <p:spPr>
          <a:xfrm>
            <a:off x="3717753" y="3813049"/>
            <a:ext cx="4537727" cy="383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Mixed ADF/KPSS signals: mean-reverting within-year but trend over 4 years. Z-score normalization per client (fit on train only) addresses this.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16 / 18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3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Future Steps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3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3"/>
          <p:cNvSpPr/>
          <p:nvPr/>
        </p:nvSpPr>
        <p:spPr>
          <a:xfrm>
            <a:off x="228600" y="1005840"/>
            <a:ext cx="2011680" cy="3840480"/>
          </a:xfrm>
          <a:prstGeom prst="rect">
            <a:avLst/>
          </a:prstGeom>
          <a:solidFill>
            <a:srgbClr val="0D9488"/>
          </a:solidFill>
          <a:ln cap="flat" cmpd="sng" w="317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3"/>
          <p:cNvSpPr/>
          <p:nvPr/>
        </p:nvSpPr>
        <p:spPr>
          <a:xfrm>
            <a:off x="228600" y="105156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lang="en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lang="en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Current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3"/>
          <p:cNvSpPr/>
          <p:nvPr/>
        </p:nvSpPr>
        <p:spPr>
          <a:xfrm>
            <a:off x="320040" y="175564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lang="en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Baseline Models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3"/>
          <p:cNvSpPr/>
          <p:nvPr/>
        </p:nvSpPr>
        <p:spPr>
          <a:xfrm>
            <a:off x="347472" y="2331720"/>
            <a:ext cx="201168" cy="20116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3"/>
          <p:cNvSpPr/>
          <p:nvPr/>
        </p:nvSpPr>
        <p:spPr>
          <a:xfrm>
            <a:off x="621792" y="2258568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LSTM, TCN, Transformer, PatchTST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3"/>
          <p:cNvSpPr/>
          <p:nvPr/>
        </p:nvSpPr>
        <p:spPr>
          <a:xfrm>
            <a:off x="347472" y="3017520"/>
            <a:ext cx="201168" cy="20116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3"/>
          <p:cNvSpPr/>
          <p:nvPr/>
        </p:nvSpPr>
        <p:spPr>
          <a:xfrm>
            <a:off x="621792" y="2944368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UCI dataset EDA &amp; preprocessing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3"/>
          <p:cNvSpPr/>
          <p:nvPr/>
        </p:nvSpPr>
        <p:spPr>
          <a:xfrm>
            <a:off x="347472" y="3703320"/>
            <a:ext cx="201168" cy="20116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3"/>
          <p:cNvSpPr/>
          <p:nvPr/>
        </p:nvSpPr>
        <p:spPr>
          <a:xfrm>
            <a:off x="621792" y="3630168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 framework established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3"/>
          <p:cNvSpPr/>
          <p:nvPr/>
        </p:nvSpPr>
        <p:spPr>
          <a:xfrm>
            <a:off x="960120" y="4206240"/>
            <a:ext cx="411480" cy="41148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3"/>
          <p:cNvSpPr/>
          <p:nvPr/>
        </p:nvSpPr>
        <p:spPr>
          <a:xfrm>
            <a:off x="960120" y="42062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3"/>
          <p:cNvSpPr/>
          <p:nvPr/>
        </p:nvSpPr>
        <p:spPr>
          <a:xfrm>
            <a:off x="2441448" y="1005840"/>
            <a:ext cx="2011680" cy="3840480"/>
          </a:xfrm>
          <a:prstGeom prst="rect">
            <a:avLst/>
          </a:prstGeom>
          <a:solidFill>
            <a:srgbClr val="2E5FAC">
              <a:alpha val="20000"/>
            </a:srgbClr>
          </a:solidFill>
          <a:ln cap="flat" cmpd="sng" w="12700">
            <a:solidFill>
              <a:srgbClr val="2E5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3"/>
          <p:cNvSpPr/>
          <p:nvPr/>
        </p:nvSpPr>
        <p:spPr>
          <a:xfrm>
            <a:off x="2441448" y="105156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BFE0"/>
              </a:buClr>
              <a:buSzPts val="1800"/>
              <a:buFont typeface="Trebuchet MS"/>
              <a:buNone/>
            </a:pPr>
            <a:r>
              <a:rPr b="1" lang="en" sz="1800">
                <a:solidFill>
                  <a:srgbClr val="8BBFE0"/>
                </a:solidFill>
                <a:latin typeface="Trebuchet MS"/>
                <a:ea typeface="Trebuchet MS"/>
                <a:cs typeface="Trebuchet MS"/>
                <a:sym typeface="Trebuchet MS"/>
              </a:rPr>
              <a:t>D2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3"/>
          <p:cNvSpPr/>
          <p:nvPr/>
        </p:nvSpPr>
        <p:spPr>
          <a:xfrm>
            <a:off x="2532888" y="175564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300"/>
              <a:buFont typeface="Trebuchet MS"/>
              <a:buNone/>
            </a:pPr>
            <a:r>
              <a:rPr b="1" lang="en" sz="1300">
                <a:solidFill>
                  <a:srgbClr val="D0E8FF"/>
                </a:solidFill>
                <a:latin typeface="Trebuchet MS"/>
                <a:ea typeface="Trebuchet MS"/>
                <a:cs typeface="Trebuchet MS"/>
                <a:sym typeface="Trebuchet MS"/>
              </a:rPr>
              <a:t>Full-Scale Training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3"/>
          <p:cNvSpPr/>
          <p:nvPr/>
        </p:nvSpPr>
        <p:spPr>
          <a:xfrm>
            <a:off x="2560320" y="2331720"/>
            <a:ext cx="201168" cy="201168"/>
          </a:xfrm>
          <a:prstGeom prst="ellipse">
            <a:avLst/>
          </a:prstGeom>
          <a:solidFill>
            <a:srgbClr val="2E5FAC"/>
          </a:solidFill>
          <a:ln cap="flat" cmpd="sng" w="12700">
            <a:solidFill>
              <a:srgbClr val="2E5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3"/>
          <p:cNvSpPr/>
          <p:nvPr/>
        </p:nvSpPr>
        <p:spPr>
          <a:xfrm>
            <a:off x="2834640" y="2258568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All 320 clients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3"/>
          <p:cNvSpPr/>
          <p:nvPr/>
        </p:nvSpPr>
        <p:spPr>
          <a:xfrm>
            <a:off x="2560320" y="3017520"/>
            <a:ext cx="201168" cy="201168"/>
          </a:xfrm>
          <a:prstGeom prst="ellipse">
            <a:avLst/>
          </a:prstGeom>
          <a:solidFill>
            <a:srgbClr val="2E5FAC"/>
          </a:solidFill>
          <a:ln cap="flat" cmpd="sng" w="12700">
            <a:solidFill>
              <a:srgbClr val="2E5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3"/>
          <p:cNvSpPr/>
          <p:nvPr/>
        </p:nvSpPr>
        <p:spPr>
          <a:xfrm>
            <a:off x="2834640" y="2944368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Hyperparameter tuning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3"/>
          <p:cNvSpPr/>
          <p:nvPr/>
        </p:nvSpPr>
        <p:spPr>
          <a:xfrm>
            <a:off x="2560320" y="3703320"/>
            <a:ext cx="201168" cy="201168"/>
          </a:xfrm>
          <a:prstGeom prst="ellipse">
            <a:avLst/>
          </a:prstGeom>
          <a:solidFill>
            <a:srgbClr val="2E5FAC"/>
          </a:solidFill>
          <a:ln cap="flat" cmpd="sng" w="12700">
            <a:solidFill>
              <a:srgbClr val="2E5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3"/>
          <p:cNvSpPr/>
          <p:nvPr/>
        </p:nvSpPr>
        <p:spPr>
          <a:xfrm>
            <a:off x="2834640" y="3630168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PatchTST as primary model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3"/>
          <p:cNvSpPr/>
          <p:nvPr/>
        </p:nvSpPr>
        <p:spPr>
          <a:xfrm>
            <a:off x="4654296" y="1005840"/>
            <a:ext cx="2011680" cy="3840480"/>
          </a:xfrm>
          <a:prstGeom prst="rect">
            <a:avLst/>
          </a:prstGeom>
          <a:solidFill>
            <a:srgbClr val="6366F1">
              <a:alpha val="20000"/>
            </a:srgbClr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33"/>
          <p:cNvSpPr/>
          <p:nvPr/>
        </p:nvSpPr>
        <p:spPr>
          <a:xfrm>
            <a:off x="4654296" y="105156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8C8"/>
              </a:buClr>
              <a:buSzPts val="1800"/>
              <a:buFont typeface="Trebuchet MS"/>
              <a:buNone/>
            </a:pPr>
            <a:r>
              <a:rPr b="1" lang="en" sz="1800">
                <a:solidFill>
                  <a:srgbClr val="AAB8C8"/>
                </a:solidFill>
                <a:latin typeface="Trebuchet MS"/>
                <a:ea typeface="Trebuchet MS"/>
                <a:cs typeface="Trebuchet MS"/>
                <a:sym typeface="Trebuchet MS"/>
              </a:rPr>
              <a:t>D3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3"/>
          <p:cNvSpPr/>
          <p:nvPr/>
        </p:nvSpPr>
        <p:spPr>
          <a:xfrm>
            <a:off x="4745736" y="175564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300"/>
              <a:buFont typeface="Trebuchet MS"/>
              <a:buNone/>
            </a:pPr>
            <a:r>
              <a:rPr b="1" lang="en" sz="1300">
                <a:solidFill>
                  <a:srgbClr val="D0E8FF"/>
                </a:solidFill>
                <a:latin typeface="Trebuchet MS"/>
                <a:ea typeface="Trebuchet MS"/>
                <a:cs typeface="Trebuchet MS"/>
                <a:sym typeface="Trebuchet MS"/>
              </a:rPr>
              <a:t>LDT Implementation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3"/>
          <p:cNvSpPr/>
          <p:nvPr/>
        </p:nvSpPr>
        <p:spPr>
          <a:xfrm>
            <a:off x="4773168" y="2331720"/>
            <a:ext cx="201168" cy="201168"/>
          </a:xfrm>
          <a:prstGeom prst="ellipse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3"/>
          <p:cNvSpPr/>
          <p:nvPr/>
        </p:nvSpPr>
        <p:spPr>
          <a:xfrm>
            <a:off x="5047488" y="2258568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Statistics-aware autoencoder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3"/>
          <p:cNvSpPr/>
          <p:nvPr/>
        </p:nvSpPr>
        <p:spPr>
          <a:xfrm>
            <a:off x="4773168" y="3017520"/>
            <a:ext cx="201168" cy="201168"/>
          </a:xfrm>
          <a:prstGeom prst="ellipse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3"/>
          <p:cNvSpPr/>
          <p:nvPr/>
        </p:nvSpPr>
        <p:spPr>
          <a:xfrm>
            <a:off x="5047488" y="2944368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Diffusion-based generator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3"/>
          <p:cNvSpPr/>
          <p:nvPr/>
        </p:nvSpPr>
        <p:spPr>
          <a:xfrm>
            <a:off x="4773168" y="3703320"/>
            <a:ext cx="201168" cy="201168"/>
          </a:xfrm>
          <a:prstGeom prst="ellipse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3"/>
          <p:cNvSpPr/>
          <p:nvPr/>
        </p:nvSpPr>
        <p:spPr>
          <a:xfrm>
            <a:off x="5047488" y="3630168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Probabilistic intervals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3"/>
          <p:cNvSpPr/>
          <p:nvPr/>
        </p:nvSpPr>
        <p:spPr>
          <a:xfrm>
            <a:off x="6867144" y="1005840"/>
            <a:ext cx="2011680" cy="3840480"/>
          </a:xfrm>
          <a:prstGeom prst="rect">
            <a:avLst/>
          </a:prstGeom>
          <a:solidFill>
            <a:srgbClr val="1A3A6B">
              <a:alpha val="20000"/>
            </a:srgbClr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3"/>
          <p:cNvSpPr/>
          <p:nvPr/>
        </p:nvSpPr>
        <p:spPr>
          <a:xfrm>
            <a:off x="6867144" y="105156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8C8"/>
              </a:buClr>
              <a:buSzPts val="1800"/>
              <a:buFont typeface="Trebuchet MS"/>
              <a:buNone/>
            </a:pPr>
            <a:r>
              <a:rPr b="1" lang="en" sz="1800">
                <a:solidFill>
                  <a:srgbClr val="AAB8C8"/>
                </a:solidFill>
                <a:latin typeface="Trebuchet MS"/>
                <a:ea typeface="Trebuchet MS"/>
                <a:cs typeface="Trebuchet MS"/>
                <a:sym typeface="Trebuchet MS"/>
              </a:rPr>
              <a:t>Final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3"/>
          <p:cNvSpPr/>
          <p:nvPr/>
        </p:nvSpPr>
        <p:spPr>
          <a:xfrm>
            <a:off x="6958584" y="175564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300"/>
              <a:buFont typeface="Trebuchet MS"/>
              <a:buNone/>
            </a:pPr>
            <a:r>
              <a:rPr b="1" lang="en" sz="1300">
                <a:solidFill>
                  <a:srgbClr val="D0E8FF"/>
                </a:solidFill>
                <a:latin typeface="Trebuchet MS"/>
                <a:ea typeface="Trebuchet MS"/>
                <a:cs typeface="Trebuchet MS"/>
                <a:sym typeface="Trebuchet MS"/>
              </a:rPr>
              <a:t>Full Benchmark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3"/>
          <p:cNvSpPr/>
          <p:nvPr/>
        </p:nvSpPr>
        <p:spPr>
          <a:xfrm>
            <a:off x="6986016" y="2331720"/>
            <a:ext cx="201168" cy="201168"/>
          </a:xfrm>
          <a:prstGeom prst="ellipse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3"/>
          <p:cNvSpPr/>
          <p:nvPr/>
        </p:nvSpPr>
        <p:spPr>
          <a:xfrm>
            <a:off x="7260336" y="2258568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CRPS / WIS metrics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3"/>
          <p:cNvSpPr/>
          <p:nvPr/>
        </p:nvSpPr>
        <p:spPr>
          <a:xfrm>
            <a:off x="6986016" y="3017520"/>
            <a:ext cx="201168" cy="201168"/>
          </a:xfrm>
          <a:prstGeom prst="ellipse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3"/>
          <p:cNvSpPr/>
          <p:nvPr/>
        </p:nvSpPr>
        <p:spPr>
          <a:xfrm>
            <a:off x="7260336" y="2944368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Complete comparison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3"/>
          <p:cNvSpPr/>
          <p:nvPr/>
        </p:nvSpPr>
        <p:spPr>
          <a:xfrm>
            <a:off x="6986016" y="3703320"/>
            <a:ext cx="201168" cy="201168"/>
          </a:xfrm>
          <a:prstGeom prst="ellipse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3"/>
          <p:cNvSpPr/>
          <p:nvPr/>
        </p:nvSpPr>
        <p:spPr>
          <a:xfrm>
            <a:off x="7260336" y="3630168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Final conclusions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4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Team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4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4"/>
          <p:cNvSpPr/>
          <p:nvPr/>
        </p:nvSpPr>
        <p:spPr>
          <a:xfrm>
            <a:off x="3566160" y="361724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lang="en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Akriti</a:t>
            </a:r>
            <a:endParaRPr b="1" sz="1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lang="en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Agarwal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4"/>
          <p:cNvSpPr/>
          <p:nvPr/>
        </p:nvSpPr>
        <p:spPr>
          <a:xfrm>
            <a:off x="6132195" y="3617240"/>
            <a:ext cx="168021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lang="en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Haasita Pinnepu</a:t>
            </a:r>
            <a:endParaRPr b="1" sz="1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9" name="Google Shape;649;p34"/>
          <p:cNvSpPr/>
          <p:nvPr/>
        </p:nvSpPr>
        <p:spPr>
          <a:xfrm>
            <a:off x="1234440" y="361724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lang="en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Ritika Rajeev Chatterjee</a:t>
            </a:r>
            <a:endParaRPr/>
          </a:p>
        </p:txBody>
      </p:sp>
      <p:pic>
        <p:nvPicPr>
          <p:cNvPr id="650" name="Google Shape;65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8755" y="1844040"/>
            <a:ext cx="1543050" cy="1543050"/>
          </a:xfrm>
          <a:prstGeom prst="ellipse">
            <a:avLst/>
          </a:prstGeom>
          <a:noFill/>
          <a:ln cap="rnd" cmpd="sng" w="1905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51" name="Google Shape;65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2195" y="1800225"/>
            <a:ext cx="1543050" cy="1543050"/>
          </a:xfrm>
          <a:prstGeom prst="ellipse">
            <a:avLst/>
          </a:prstGeom>
          <a:noFill/>
          <a:ln cap="rnd" cmpd="sng" w="1905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52" name="Google Shape;65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380" y="1844040"/>
            <a:ext cx="1543050" cy="154305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